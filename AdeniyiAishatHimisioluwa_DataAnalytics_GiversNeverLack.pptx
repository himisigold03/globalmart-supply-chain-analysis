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5914C27C-AFAF-9B47-BF30-BA7D677ED2C7}" type="datetimeFigureOut">
              <a:rPr lang="en-US" smtClean="0"/>
              <a:t>7/21/2026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A1D08FD5-03AB-0D47-8602-F0AC221A109D}" type="slidenum">
              <a:rPr lang="en-US" smtClean="0"/>
              <a:t>‹#›</a:t>
            </a:fld>
            <a:endParaRPr lang="en-US"/>
          </a:p>
        </p:txBody>
      </p:sp>
    </p:spTree>
    <p:extLst>
      <p:ext uri="{BB962C8B-B14F-4D97-AF65-F5344CB8AC3E}">
        <p14:creationId xmlns:p14="http://schemas.microsoft.com/office/powerpoint/2010/main" val="3062711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E30"/>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028090">
              <a:alpha val="45000"/>
            </a:srgbClr>
          </a:solidFill>
          <a:ln/>
        </p:spPr>
      </p:sp>
      <p:sp>
        <p:nvSpPr>
          <p:cNvPr id="3" name="Shape 1"/>
          <p:cNvSpPr/>
          <p:nvPr/>
        </p:nvSpPr>
        <p:spPr>
          <a:xfrm>
            <a:off x="10332720" y="4206240"/>
            <a:ext cx="3291840" cy="3291840"/>
          </a:xfrm>
          <a:prstGeom prst="ellipse">
            <a:avLst/>
          </a:prstGeom>
          <a:solidFill>
            <a:srgbClr val="02C39A">
              <a:alpha val="45000"/>
            </a:srgbClr>
          </a:solidFill>
          <a:ln/>
        </p:spPr>
      </p:sp>
      <p:sp>
        <p:nvSpPr>
          <p:cNvPr id="4" name="Text 2"/>
          <p:cNvSpPr/>
          <p:nvPr/>
        </p:nvSpPr>
        <p:spPr>
          <a:xfrm>
            <a:off x="640080" y="1874520"/>
            <a:ext cx="7315200" cy="365760"/>
          </a:xfrm>
          <a:prstGeom prst="rect">
            <a:avLst/>
          </a:prstGeom>
          <a:noFill/>
          <a:ln/>
        </p:spPr>
        <p:txBody>
          <a:bodyPr wrap="square" rtlCol="0" anchor="ctr"/>
          <a:lstStyle/>
          <a:p>
            <a:pPr marL="0" indent="0">
              <a:buNone/>
            </a:pPr>
            <a:r>
              <a:rPr lang="en-US" sz="1300" b="1" kern="0" spc="300" dirty="0">
                <a:solidFill>
                  <a:srgbClr val="02C39A"/>
                </a:solidFill>
                <a:latin typeface="Calibri" pitchFamily="34" charset="0"/>
                <a:ea typeface="Calibri" pitchFamily="34" charset="-122"/>
                <a:cs typeface="Calibri" pitchFamily="34" charset="-120"/>
              </a:rPr>
              <a:t>A PERSONAL REFLECTION</a:t>
            </a:r>
            <a:endParaRPr lang="en-US" sz="1300" dirty="0"/>
          </a:p>
        </p:txBody>
      </p:sp>
      <p:sp>
        <p:nvSpPr>
          <p:cNvPr id="5" name="Text 3"/>
          <p:cNvSpPr/>
          <p:nvPr/>
        </p:nvSpPr>
        <p:spPr>
          <a:xfrm>
            <a:off x="594360" y="2286000"/>
            <a:ext cx="9601200" cy="137160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Givers Never Lack</a:t>
            </a:r>
            <a:endParaRPr lang="en-US" sz="4800" dirty="0"/>
          </a:p>
        </p:txBody>
      </p:sp>
      <p:sp>
        <p:nvSpPr>
          <p:cNvPr id="6" name="Shape 4"/>
          <p:cNvSpPr/>
          <p:nvPr/>
        </p:nvSpPr>
        <p:spPr>
          <a:xfrm>
            <a:off x="640080" y="3794760"/>
            <a:ext cx="548640" cy="54864"/>
          </a:xfrm>
          <a:prstGeom prst="rect">
            <a:avLst/>
          </a:prstGeom>
          <a:solidFill>
            <a:srgbClr val="00A896"/>
          </a:solidFill>
          <a:ln/>
        </p:spPr>
      </p:sp>
      <p:sp>
        <p:nvSpPr>
          <p:cNvPr id="7" name="Text 5"/>
          <p:cNvSpPr/>
          <p:nvPr/>
        </p:nvSpPr>
        <p:spPr>
          <a:xfrm>
            <a:off x="640080" y="4023360"/>
            <a:ext cx="7315200" cy="4114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Adeniyi Aishat Himisioluwa</a:t>
            </a:r>
            <a:endParaRPr lang="en-US" sz="1800" dirty="0"/>
          </a:p>
        </p:txBody>
      </p:sp>
      <p:sp>
        <p:nvSpPr>
          <p:cNvPr id="8" name="Text 6"/>
          <p:cNvSpPr/>
          <p:nvPr/>
        </p:nvSpPr>
        <p:spPr>
          <a:xfrm>
            <a:off x="640080" y="4434840"/>
            <a:ext cx="7315200" cy="365760"/>
          </a:xfrm>
          <a:prstGeom prst="rect">
            <a:avLst/>
          </a:prstGeom>
          <a:noFill/>
          <a:ln/>
        </p:spPr>
        <p:txBody>
          <a:bodyPr wrap="square" rtlCol="0" anchor="ctr"/>
          <a:lstStyle/>
          <a:p>
            <a:pPr marL="0" indent="0">
              <a:buNone/>
            </a:pPr>
            <a:r>
              <a:rPr lang="en-US" sz="1300" dirty="0">
                <a:solidFill>
                  <a:srgbClr val="B9D8D5"/>
                </a:solidFill>
                <a:latin typeface="Calibri" pitchFamily="34" charset="0"/>
                <a:ea typeface="Calibri" pitchFamily="34" charset="-122"/>
                <a:cs typeface="Calibri" pitchFamily="34" charset="-120"/>
              </a:rPr>
              <a:t>Data Analytics Track   </a:t>
            </a:r>
            <a:endParaRPr lang="en-US" sz="1300" dirty="0"/>
          </a:p>
        </p:txBody>
      </p:sp>
      <p:sp>
        <p:nvSpPr>
          <p:cNvPr id="9" name="Text 7"/>
          <p:cNvSpPr/>
          <p:nvPr/>
        </p:nvSpPr>
        <p:spPr>
          <a:xfrm>
            <a:off x="11521440" y="6446520"/>
            <a:ext cx="457200" cy="320040"/>
          </a:xfrm>
          <a:prstGeom prst="rect">
            <a:avLst/>
          </a:prstGeom>
          <a:noFill/>
          <a:ln/>
        </p:spPr>
        <p:txBody>
          <a:bodyPr wrap="square" rtlCol="0" anchor="ctr"/>
          <a:lstStyle/>
          <a:p>
            <a:pPr marL="0" indent="0" algn="r">
              <a:buNone/>
            </a:pPr>
            <a:r>
              <a:rPr lang="en-US" sz="1000" dirty="0">
                <a:solidFill>
                  <a:srgbClr val="CFE8E5"/>
                </a:solidFill>
                <a:latin typeface="Calibri" pitchFamily="34" charset="0"/>
                <a:ea typeface="Calibri" pitchFamily="34" charset="-122"/>
                <a:cs typeface="Calibri" pitchFamily="34" charset="-120"/>
              </a:rPr>
              <a:t>1</a:t>
            </a:r>
            <a:endParaRPr lang="en-US" sz="1000" dirty="0"/>
          </a:p>
        </p:txBody>
      </p:sp>
      <p:pic>
        <p:nvPicPr>
          <p:cNvPr id="10" name="Picture 9">
            <a:extLst>
              <a:ext uri="{FF2B5EF4-FFF2-40B4-BE49-F238E27FC236}">
                <a16:creationId xmlns:a16="http://schemas.microsoft.com/office/drawing/2014/main" id="{08D6B316-F75F-1BDD-B217-7CA811DB62A8}"/>
              </a:ext>
            </a:extLst>
          </p:cNvPr>
          <p:cNvPicPr>
            <a:picLocks noChangeAspect="1"/>
          </p:cNvPicPr>
          <p:nvPr/>
        </p:nvPicPr>
        <p:blipFill>
          <a:blip r:embed="rId3"/>
          <a:stretch>
            <a:fillRect/>
          </a:stretch>
        </p:blipFill>
        <p:spPr>
          <a:xfrm>
            <a:off x="9570208" y="297943"/>
            <a:ext cx="2095500" cy="86791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960120"/>
            <a:ext cx="4480560" cy="4480560"/>
          </a:xfrm>
          <a:prstGeom prst="ellipse">
            <a:avLst/>
          </a:prstGeom>
          <a:solidFill>
            <a:srgbClr val="F4FAF9"/>
          </a:solidFill>
          <a:ln w="25400">
            <a:solidFill>
              <a:srgbClr val="00A896"/>
            </a:solidFill>
            <a:prstDash val="solid"/>
          </a:ln>
        </p:spPr>
      </p:sp>
      <p:sp>
        <p:nvSpPr>
          <p:cNvPr id="3" name="Shape 1"/>
          <p:cNvSpPr/>
          <p:nvPr/>
        </p:nvSpPr>
        <p:spPr>
          <a:xfrm>
            <a:off x="-548640" y="4937760"/>
            <a:ext cx="2011680" cy="2011680"/>
          </a:xfrm>
          <a:prstGeom prst="ellipse">
            <a:avLst/>
          </a:prstGeom>
          <a:solidFill>
            <a:srgbClr val="02C39A">
              <a:alpha val="30000"/>
            </a:srgbClr>
          </a:solidFill>
          <a:ln/>
        </p:spPr>
      </p:sp>
      <p:pic>
        <p:nvPicPr>
          <p:cNvPr id="4" name="Image 0" descr="/home/claude/givers-deck/bio_photo.jpeg"/>
          <p:cNvPicPr>
            <a:picLocks noChangeAspect="1"/>
          </p:cNvPicPr>
          <p:nvPr/>
        </p:nvPicPr>
        <p:blipFill>
          <a:blip r:embed="rId3"/>
          <a:stretch>
            <a:fillRect/>
          </a:stretch>
        </p:blipFill>
        <p:spPr>
          <a:xfrm>
            <a:off x="640080" y="1280160"/>
            <a:ext cx="3840480" cy="3840480"/>
          </a:xfrm>
          <a:prstGeom prst="ellipse">
            <a:avLst/>
          </a:prstGeom>
        </p:spPr>
      </p:pic>
      <p:sp>
        <p:nvSpPr>
          <p:cNvPr id="5" name="Text 2"/>
          <p:cNvSpPr/>
          <p:nvPr/>
        </p:nvSpPr>
        <p:spPr>
          <a:xfrm>
            <a:off x="5029200" y="960120"/>
            <a:ext cx="6400800" cy="365760"/>
          </a:xfrm>
          <a:prstGeom prst="rect">
            <a:avLst/>
          </a:prstGeom>
          <a:noFill/>
          <a:ln/>
        </p:spPr>
        <p:txBody>
          <a:bodyPr wrap="square" rtlCol="0" anchor="ctr"/>
          <a:lstStyle/>
          <a:p>
            <a:pPr marL="0" indent="0">
              <a:buNone/>
            </a:pPr>
            <a:r>
              <a:rPr lang="en-US" sz="1300" b="1" kern="0" spc="300" dirty="0">
                <a:solidFill>
                  <a:srgbClr val="00A896"/>
                </a:solidFill>
                <a:latin typeface="Calibri" pitchFamily="34" charset="0"/>
                <a:ea typeface="Calibri" pitchFamily="34" charset="-122"/>
                <a:cs typeface="Calibri" pitchFamily="34" charset="-120"/>
              </a:rPr>
              <a:t>ABOUT ME</a:t>
            </a:r>
            <a:endParaRPr lang="en-US" sz="1300" dirty="0"/>
          </a:p>
        </p:txBody>
      </p:sp>
      <p:sp>
        <p:nvSpPr>
          <p:cNvPr id="6" name="Text 3"/>
          <p:cNvSpPr/>
          <p:nvPr/>
        </p:nvSpPr>
        <p:spPr>
          <a:xfrm>
            <a:off x="5029200" y="1325880"/>
            <a:ext cx="6583680" cy="685800"/>
          </a:xfrm>
          <a:prstGeom prst="rect">
            <a:avLst/>
          </a:prstGeom>
          <a:noFill/>
          <a:ln/>
        </p:spPr>
        <p:txBody>
          <a:bodyPr wrap="square" rtlCol="0" anchor="ctr"/>
          <a:lstStyle/>
          <a:p>
            <a:pPr marL="0" indent="0">
              <a:buNone/>
            </a:pPr>
            <a:r>
              <a:rPr lang="en-US" sz="2700" b="1" dirty="0">
                <a:solidFill>
                  <a:srgbClr val="1B2E30"/>
                </a:solidFill>
                <a:latin typeface="Cambria" pitchFamily="34" charset="0"/>
                <a:ea typeface="Cambria" pitchFamily="34" charset="-122"/>
                <a:cs typeface="Cambria" pitchFamily="34" charset="-120"/>
              </a:rPr>
              <a:t>Adeniyi Aishat Himisioluwa</a:t>
            </a:r>
            <a:endParaRPr lang="en-US" sz="2700" dirty="0"/>
          </a:p>
        </p:txBody>
      </p:sp>
      <p:sp>
        <p:nvSpPr>
          <p:cNvPr id="7" name="Text 4"/>
          <p:cNvSpPr/>
          <p:nvPr/>
        </p:nvSpPr>
        <p:spPr>
          <a:xfrm>
            <a:off x="5029200" y="1965960"/>
            <a:ext cx="6583680" cy="365760"/>
          </a:xfrm>
          <a:prstGeom prst="rect">
            <a:avLst/>
          </a:prstGeom>
          <a:noFill/>
          <a:ln/>
        </p:spPr>
        <p:txBody>
          <a:bodyPr wrap="square" rtlCol="0" anchor="ctr"/>
          <a:lstStyle/>
          <a:p>
            <a:pPr marL="0" indent="0">
              <a:buNone/>
            </a:pPr>
            <a:r>
              <a:rPr lang="en-US" sz="1400" b="1" dirty="0">
                <a:solidFill>
                  <a:srgbClr val="028090"/>
                </a:solidFill>
                <a:latin typeface="Calibri" pitchFamily="34" charset="0"/>
                <a:ea typeface="Calibri" pitchFamily="34" charset="-122"/>
                <a:cs typeface="Calibri" pitchFamily="34" charset="-120"/>
              </a:rPr>
              <a:t>Data Analytics Track   </a:t>
            </a:r>
            <a:endParaRPr lang="en-US" sz="1400" dirty="0"/>
          </a:p>
        </p:txBody>
      </p:sp>
      <p:sp>
        <p:nvSpPr>
          <p:cNvPr id="8" name="Text 5"/>
          <p:cNvSpPr/>
          <p:nvPr/>
        </p:nvSpPr>
        <p:spPr>
          <a:xfrm>
            <a:off x="5029200" y="2606040"/>
            <a:ext cx="6583680" cy="1554480"/>
          </a:xfrm>
          <a:prstGeom prst="rect">
            <a:avLst/>
          </a:prstGeom>
          <a:noFill/>
          <a:ln/>
        </p:spPr>
        <p:txBody>
          <a:bodyPr wrap="square" rtlCol="0" anchor="ctr"/>
          <a:lstStyle/>
          <a:p>
            <a:pPr marL="0" indent="0">
              <a:lnSpc>
                <a:spcPct val="130000"/>
              </a:lnSpc>
              <a:buNone/>
            </a:pPr>
            <a:r>
              <a:rPr lang="yo-NG" sz="1500" dirty="0">
                <a:solidFill>
                  <a:srgbClr val="5C6B6C"/>
                </a:solidFill>
                <a:latin typeface="Calibri" pitchFamily="34" charset="0"/>
                <a:ea typeface="Calibri" pitchFamily="34" charset="-122"/>
                <a:cs typeface="Calibri" pitchFamily="34" charset="-120"/>
              </a:rPr>
              <a:t>I am</a:t>
            </a:r>
            <a:r>
              <a:rPr lang="en-US" sz="1500" dirty="0">
                <a:solidFill>
                  <a:srgbClr val="5C6B6C"/>
                </a:solidFill>
                <a:latin typeface="Calibri" pitchFamily="34" charset="0"/>
                <a:ea typeface="Calibri" pitchFamily="34" charset="-122"/>
                <a:cs typeface="Calibri" pitchFamily="34" charset="-120"/>
              </a:rPr>
              <a:t> medical student passionate about bridging the gap between health and technology</a:t>
            </a:r>
            <a:r>
              <a:rPr lang="yo-NG" sz="1500">
                <a:solidFill>
                  <a:srgbClr val="5C6B6C"/>
                </a:solidFill>
                <a:latin typeface="Calibri" pitchFamily="34" charset="0"/>
                <a:ea typeface="Calibri" pitchFamily="34" charset="-122"/>
                <a:cs typeface="Calibri" pitchFamily="34" charset="-120"/>
              </a:rPr>
              <a:t>,</a:t>
            </a:r>
            <a:r>
              <a:rPr lang="en-US" sz="1500">
                <a:solidFill>
                  <a:srgbClr val="5C6B6C"/>
                </a:solidFill>
                <a:latin typeface="Calibri" pitchFamily="34" charset="0"/>
                <a:ea typeface="Calibri" pitchFamily="34" charset="-122"/>
                <a:cs typeface="Calibri" pitchFamily="34" charset="-120"/>
              </a:rPr>
              <a:t> </a:t>
            </a:r>
            <a:r>
              <a:rPr lang="en-US" sz="1500" dirty="0">
                <a:solidFill>
                  <a:srgbClr val="5C6B6C"/>
                </a:solidFill>
                <a:latin typeface="Calibri" pitchFamily="34" charset="0"/>
                <a:ea typeface="Calibri" pitchFamily="34" charset="-122"/>
                <a:cs typeface="Calibri" pitchFamily="34" charset="-120"/>
              </a:rPr>
              <a:t>using data to make informed, data-driven decisions and applying technology to solve real health problems.</a:t>
            </a:r>
            <a:endParaRPr lang="en-US" sz="1500" dirty="0"/>
          </a:p>
        </p:txBody>
      </p:sp>
      <p:sp>
        <p:nvSpPr>
          <p:cNvPr id="9" name="Shape 6"/>
          <p:cNvSpPr/>
          <p:nvPr/>
        </p:nvSpPr>
        <p:spPr>
          <a:xfrm>
            <a:off x="5029200" y="4434840"/>
            <a:ext cx="1325880" cy="457200"/>
          </a:xfrm>
          <a:prstGeom prst="roundRect">
            <a:avLst>
              <a:gd name="adj" fmla="val 50000"/>
            </a:avLst>
          </a:prstGeom>
          <a:solidFill>
            <a:srgbClr val="F4FAF9"/>
          </a:solidFill>
          <a:ln w="12700">
            <a:solidFill>
              <a:srgbClr val="028090"/>
            </a:solidFill>
            <a:prstDash val="solid"/>
          </a:ln>
        </p:spPr>
      </p:sp>
      <p:sp>
        <p:nvSpPr>
          <p:cNvPr id="10" name="Text 7"/>
          <p:cNvSpPr/>
          <p:nvPr/>
        </p:nvSpPr>
        <p:spPr>
          <a:xfrm>
            <a:off x="5029200" y="4434840"/>
            <a:ext cx="1325880" cy="457200"/>
          </a:xfrm>
          <a:prstGeom prst="rect">
            <a:avLst/>
          </a:prstGeom>
          <a:noFill/>
          <a:ln/>
        </p:spPr>
        <p:txBody>
          <a:bodyPr wrap="square" rtlCol="0" anchor="ctr"/>
          <a:lstStyle/>
          <a:p>
            <a:pPr marL="0" indent="0" algn="ctr">
              <a:buNone/>
            </a:pPr>
            <a:r>
              <a:rPr lang="en-US" sz="1200" b="1" dirty="0">
                <a:solidFill>
                  <a:srgbClr val="028090"/>
                </a:solidFill>
                <a:latin typeface="Calibri" pitchFamily="34" charset="0"/>
                <a:ea typeface="Calibri" pitchFamily="34" charset="-122"/>
                <a:cs typeface="Calibri" pitchFamily="34" charset="-120"/>
              </a:rPr>
              <a:t>Healthcare</a:t>
            </a:r>
            <a:endParaRPr lang="en-US" sz="1200" dirty="0"/>
          </a:p>
        </p:txBody>
      </p:sp>
      <p:sp>
        <p:nvSpPr>
          <p:cNvPr id="11" name="Shape 8"/>
          <p:cNvSpPr/>
          <p:nvPr/>
        </p:nvSpPr>
        <p:spPr>
          <a:xfrm>
            <a:off x="6583680" y="4434840"/>
            <a:ext cx="1728216" cy="457200"/>
          </a:xfrm>
          <a:prstGeom prst="roundRect">
            <a:avLst>
              <a:gd name="adj" fmla="val 50000"/>
            </a:avLst>
          </a:prstGeom>
          <a:solidFill>
            <a:srgbClr val="F4FAF9"/>
          </a:solidFill>
          <a:ln w="12700">
            <a:solidFill>
              <a:srgbClr val="028090"/>
            </a:solidFill>
            <a:prstDash val="solid"/>
          </a:ln>
        </p:spPr>
      </p:sp>
      <p:sp>
        <p:nvSpPr>
          <p:cNvPr id="12" name="Text 9"/>
          <p:cNvSpPr/>
          <p:nvPr/>
        </p:nvSpPr>
        <p:spPr>
          <a:xfrm>
            <a:off x="6583680" y="4434840"/>
            <a:ext cx="1728216" cy="457200"/>
          </a:xfrm>
          <a:prstGeom prst="rect">
            <a:avLst/>
          </a:prstGeom>
          <a:noFill/>
          <a:ln/>
        </p:spPr>
        <p:txBody>
          <a:bodyPr wrap="square" rtlCol="0" anchor="ctr"/>
          <a:lstStyle/>
          <a:p>
            <a:pPr marL="0" indent="0" algn="ctr">
              <a:buNone/>
            </a:pPr>
            <a:r>
              <a:rPr lang="en-US" sz="1200" b="1" dirty="0">
                <a:solidFill>
                  <a:srgbClr val="028090"/>
                </a:solidFill>
                <a:latin typeface="Calibri" pitchFamily="34" charset="0"/>
                <a:ea typeface="Calibri" pitchFamily="34" charset="-122"/>
                <a:cs typeface="Calibri" pitchFamily="34" charset="-120"/>
              </a:rPr>
              <a:t>Data Analytics</a:t>
            </a:r>
            <a:endParaRPr lang="en-US" sz="1200" dirty="0"/>
          </a:p>
        </p:txBody>
      </p:sp>
      <p:sp>
        <p:nvSpPr>
          <p:cNvPr id="13" name="Shape 10"/>
          <p:cNvSpPr/>
          <p:nvPr/>
        </p:nvSpPr>
        <p:spPr>
          <a:xfrm>
            <a:off x="8540496" y="4434840"/>
            <a:ext cx="2532888" cy="457200"/>
          </a:xfrm>
          <a:prstGeom prst="roundRect">
            <a:avLst>
              <a:gd name="adj" fmla="val 50000"/>
            </a:avLst>
          </a:prstGeom>
          <a:solidFill>
            <a:srgbClr val="F4FAF9"/>
          </a:solidFill>
          <a:ln w="12700">
            <a:solidFill>
              <a:srgbClr val="028090"/>
            </a:solidFill>
            <a:prstDash val="solid"/>
          </a:ln>
        </p:spPr>
      </p:sp>
      <p:sp>
        <p:nvSpPr>
          <p:cNvPr id="14" name="Text 11"/>
          <p:cNvSpPr/>
          <p:nvPr/>
        </p:nvSpPr>
        <p:spPr>
          <a:xfrm>
            <a:off x="8540496" y="4434840"/>
            <a:ext cx="2532888" cy="457200"/>
          </a:xfrm>
          <a:prstGeom prst="rect">
            <a:avLst/>
          </a:prstGeom>
          <a:noFill/>
          <a:ln/>
        </p:spPr>
        <p:txBody>
          <a:bodyPr wrap="square" rtlCol="0" anchor="ctr"/>
          <a:lstStyle/>
          <a:p>
            <a:pPr marL="0" indent="0" algn="ctr">
              <a:buNone/>
            </a:pPr>
            <a:r>
              <a:rPr lang="en-US" sz="1200" b="1" dirty="0">
                <a:solidFill>
                  <a:srgbClr val="028090"/>
                </a:solidFill>
                <a:latin typeface="Calibri" pitchFamily="34" charset="0"/>
                <a:ea typeface="Calibri" pitchFamily="34" charset="-122"/>
                <a:cs typeface="Calibri" pitchFamily="34" charset="-120"/>
              </a:rPr>
              <a:t>Health-Tech Innovation</a:t>
            </a:r>
            <a:endParaRPr lang="en-US" sz="1200" dirty="0"/>
          </a:p>
        </p:txBody>
      </p:sp>
      <p:sp>
        <p:nvSpPr>
          <p:cNvPr id="15" name="Text 12"/>
          <p:cNvSpPr/>
          <p:nvPr/>
        </p:nvSpPr>
        <p:spPr>
          <a:xfrm>
            <a:off x="11521440" y="6446520"/>
            <a:ext cx="457200" cy="320040"/>
          </a:xfrm>
          <a:prstGeom prst="rect">
            <a:avLst/>
          </a:prstGeom>
          <a:noFill/>
          <a:ln/>
        </p:spPr>
        <p:txBody>
          <a:bodyPr wrap="square" rtlCol="0" anchor="ctr"/>
          <a:lstStyle/>
          <a:p>
            <a:pPr marL="0" indent="0" algn="r">
              <a:buNone/>
            </a:pPr>
            <a:r>
              <a:rPr lang="en-US" sz="1000" dirty="0">
                <a:solidFill>
                  <a:srgbClr val="5C6B6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F4FAF9"/>
          </a:solidFill>
          <a:ln/>
        </p:spPr>
      </p:sp>
      <p:sp>
        <p:nvSpPr>
          <p:cNvPr id="3" name="Shape 1"/>
          <p:cNvSpPr/>
          <p:nvPr/>
        </p:nvSpPr>
        <p:spPr>
          <a:xfrm>
            <a:off x="640080" y="731520"/>
            <a:ext cx="914400" cy="914400"/>
          </a:xfrm>
          <a:prstGeom prst="ellipse">
            <a:avLst/>
          </a:prstGeom>
          <a:solidFill>
            <a:srgbClr val="028090"/>
          </a:solidFill>
          <a:ln/>
        </p:spPr>
      </p:sp>
      <p:sp>
        <p:nvSpPr>
          <p:cNvPr id="4" name="Text 2"/>
          <p:cNvSpPr/>
          <p:nvPr/>
        </p:nvSpPr>
        <p:spPr>
          <a:xfrm>
            <a:off x="640080" y="731520"/>
            <a:ext cx="914400" cy="9144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5" name="Text 3"/>
          <p:cNvSpPr/>
          <p:nvPr/>
        </p:nvSpPr>
        <p:spPr>
          <a:xfrm>
            <a:off x="640080" y="1828800"/>
            <a:ext cx="2926080" cy="914400"/>
          </a:xfrm>
          <a:prstGeom prst="rect">
            <a:avLst/>
          </a:prstGeom>
          <a:noFill/>
          <a:ln/>
        </p:spPr>
        <p:txBody>
          <a:bodyPr wrap="square" rtlCol="0" anchor="ctr"/>
          <a:lstStyle/>
          <a:p>
            <a:pPr marL="0" indent="0">
              <a:buNone/>
            </a:pPr>
            <a:r>
              <a:rPr lang="en-US" sz="3000" b="1" dirty="0">
                <a:solidFill>
                  <a:srgbClr val="1B2E30"/>
                </a:solidFill>
                <a:latin typeface="Cambria" pitchFamily="34" charset="0"/>
                <a:ea typeface="Cambria" pitchFamily="34" charset="-122"/>
                <a:cs typeface="Cambria" pitchFamily="34" charset="-120"/>
              </a:rPr>
              <a:t>Introduction</a:t>
            </a:r>
            <a:endParaRPr lang="en-US" sz="3000" dirty="0"/>
          </a:p>
        </p:txBody>
      </p:sp>
      <p:sp>
        <p:nvSpPr>
          <p:cNvPr id="6" name="Text 4"/>
          <p:cNvSpPr/>
          <p:nvPr/>
        </p:nvSpPr>
        <p:spPr>
          <a:xfrm>
            <a:off x="640080" y="2697480"/>
            <a:ext cx="2926080" cy="1097280"/>
          </a:xfrm>
          <a:prstGeom prst="rect">
            <a:avLst/>
          </a:prstGeom>
          <a:noFill/>
          <a:ln/>
        </p:spPr>
        <p:txBody>
          <a:bodyPr wrap="square" rtlCol="0" anchor="ctr"/>
          <a:lstStyle/>
          <a:p>
            <a:pPr marL="0" indent="0">
              <a:buNone/>
            </a:pPr>
            <a:r>
              <a:rPr lang="en-US" sz="1300" i="1" dirty="0">
                <a:solidFill>
                  <a:srgbClr val="5C6B6C"/>
                </a:solidFill>
                <a:latin typeface="Calibri" pitchFamily="34" charset="0"/>
                <a:ea typeface="Calibri" pitchFamily="34" charset="-122"/>
                <a:cs typeface="Calibri" pitchFamily="34" charset="-120"/>
              </a:rPr>
              <a:t>Reflecting on the video and on habits I know I should build.</a:t>
            </a:r>
            <a:endParaRPr lang="en-US" sz="1300" dirty="0"/>
          </a:p>
        </p:txBody>
      </p:sp>
      <p:sp>
        <p:nvSpPr>
          <p:cNvPr id="7" name="Text 5"/>
          <p:cNvSpPr/>
          <p:nvPr/>
        </p:nvSpPr>
        <p:spPr>
          <a:xfrm>
            <a:off x="4297680" y="1463040"/>
            <a:ext cx="7315200" cy="1737360"/>
          </a:xfrm>
          <a:prstGeom prst="rect">
            <a:avLst/>
          </a:prstGeom>
          <a:noFill/>
          <a:ln/>
        </p:spPr>
        <p:txBody>
          <a:bodyPr wrap="square" rtlCol="0" anchor="ctr"/>
          <a:lstStyle/>
          <a:p>
            <a:pPr marL="0" indent="0">
              <a:lnSpc>
                <a:spcPct val="130000"/>
              </a:lnSpc>
              <a:buNone/>
            </a:pPr>
            <a:r>
              <a:rPr lang="en-US" sz="1800" dirty="0">
                <a:solidFill>
                  <a:srgbClr val="1B2E30"/>
                </a:solidFill>
                <a:latin typeface="Calibri" pitchFamily="34" charset="0"/>
                <a:ea typeface="Calibri" pitchFamily="34" charset="-122"/>
                <a:cs typeface="Calibri" pitchFamily="34" charset="-120"/>
              </a:rPr>
              <a:t>Watching the video made me reflect on several things that I know I ought to incorporate into my daily life but have not been doing consistently. As a result, it has affected my growth and productivity.</a:t>
            </a:r>
            <a:endParaRPr lang="en-US" sz="1800" dirty="0"/>
          </a:p>
        </p:txBody>
      </p:sp>
      <p:sp>
        <p:nvSpPr>
          <p:cNvPr id="8" name="Text 6"/>
          <p:cNvSpPr/>
          <p:nvPr/>
        </p:nvSpPr>
        <p:spPr>
          <a:xfrm>
            <a:off x="4297680" y="3383280"/>
            <a:ext cx="6949440" cy="914400"/>
          </a:xfrm>
          <a:prstGeom prst="rect">
            <a:avLst/>
          </a:prstGeom>
          <a:noFill/>
          <a:ln/>
        </p:spPr>
        <p:txBody>
          <a:bodyPr wrap="square" rtlCol="0" anchor="ctr"/>
          <a:lstStyle/>
          <a:p>
            <a:pPr marL="0" indent="0">
              <a:lnSpc>
                <a:spcPct val="130000"/>
              </a:lnSpc>
              <a:buNone/>
            </a:pPr>
            <a:r>
              <a:rPr lang="en-US" sz="2000" b="1" i="1" dirty="0">
                <a:solidFill>
                  <a:srgbClr val="028090"/>
                </a:solidFill>
                <a:latin typeface="Cambria" pitchFamily="34" charset="0"/>
                <a:ea typeface="Cambria" pitchFamily="34" charset="-122"/>
                <a:cs typeface="Cambria" pitchFamily="34" charset="-120"/>
              </a:rPr>
              <a:t>It feels like identifying your problem but not being ready to solve it.</a:t>
            </a:r>
            <a:endParaRPr lang="en-US" sz="2000" dirty="0"/>
          </a:p>
        </p:txBody>
      </p:sp>
      <p:sp>
        <p:nvSpPr>
          <p:cNvPr id="9" name="Text 7"/>
          <p:cNvSpPr/>
          <p:nvPr/>
        </p:nvSpPr>
        <p:spPr>
          <a:xfrm>
            <a:off x="11521440" y="6446520"/>
            <a:ext cx="457200" cy="320040"/>
          </a:xfrm>
          <a:prstGeom prst="rect">
            <a:avLst/>
          </a:prstGeom>
          <a:noFill/>
          <a:ln/>
        </p:spPr>
        <p:txBody>
          <a:bodyPr wrap="square" rtlCol="0" anchor="ctr"/>
          <a:lstStyle/>
          <a:p>
            <a:pPr marL="0" indent="0" algn="r">
              <a:buNone/>
            </a:pPr>
            <a:r>
              <a:rPr lang="en-US" sz="1000" dirty="0">
                <a:solidFill>
                  <a:srgbClr val="5C6B6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marL="0" indent="0">
              <a:buNone/>
            </a:pPr>
            <a:r>
              <a:rPr lang="en-US" sz="2800" b="1" dirty="0">
                <a:solidFill>
                  <a:srgbClr val="1B2E30"/>
                </a:solidFill>
                <a:latin typeface="Cambria" pitchFamily="34" charset="0"/>
                <a:ea typeface="Cambria" pitchFamily="34" charset="-122"/>
                <a:cs typeface="Cambria" pitchFamily="34" charset="-120"/>
              </a:rPr>
              <a:t>The Phrase "Givers Never Lack"</a:t>
            </a:r>
            <a:endParaRPr lang="en-US" sz="2800" dirty="0"/>
          </a:p>
        </p:txBody>
      </p:sp>
      <p:sp>
        <p:nvSpPr>
          <p:cNvPr id="3" name="Text 1"/>
          <p:cNvSpPr/>
          <p:nvPr/>
        </p:nvSpPr>
        <p:spPr>
          <a:xfrm>
            <a:off x="548640" y="960120"/>
            <a:ext cx="10972800" cy="502920"/>
          </a:xfrm>
          <a:prstGeom prst="rect">
            <a:avLst/>
          </a:prstGeom>
          <a:noFill/>
          <a:ln/>
        </p:spPr>
        <p:txBody>
          <a:bodyPr wrap="square" rtlCol="0" anchor="ctr"/>
          <a:lstStyle/>
          <a:p>
            <a:pPr marL="0" indent="0">
              <a:buNone/>
            </a:pPr>
            <a:r>
              <a:rPr lang="en-US" sz="1400" i="1" dirty="0">
                <a:solidFill>
                  <a:srgbClr val="5C6B6C"/>
                </a:solidFill>
                <a:latin typeface="Calibri" pitchFamily="34" charset="0"/>
                <a:ea typeface="Calibri" pitchFamily="34" charset="-122"/>
                <a:cs typeface="Calibri" pitchFamily="34" charset="-120"/>
              </a:rPr>
              <a:t>T</a:t>
            </a:r>
            <a:r>
              <a:rPr lang="yo-NG" sz="1400" i="1" dirty="0">
                <a:solidFill>
                  <a:srgbClr val="5C6B6C"/>
                </a:solidFill>
                <a:latin typeface="Calibri" pitchFamily="34" charset="0"/>
                <a:ea typeface="Calibri" pitchFamily="34" charset="-122"/>
                <a:cs typeface="Calibri" pitchFamily="34" charset="-120"/>
              </a:rPr>
              <a:t>he phrase “Givers Never Lack “ is one statement that resonated with me deeply, even though it wasn’t stated exactly like that in the video. Rather it is a phrase I coined from the following key take away:</a:t>
            </a:r>
            <a:endParaRPr lang="en-US" sz="1400" dirty="0"/>
          </a:p>
        </p:txBody>
      </p:sp>
      <p:sp>
        <p:nvSpPr>
          <p:cNvPr id="4" name="Shape 2"/>
          <p:cNvSpPr/>
          <p:nvPr/>
        </p:nvSpPr>
        <p:spPr>
          <a:xfrm>
            <a:off x="548640" y="1783080"/>
            <a:ext cx="3593592" cy="4251960"/>
          </a:xfrm>
          <a:prstGeom prst="roundRect">
            <a:avLst>
              <a:gd name="adj" fmla="val 2036"/>
            </a:avLst>
          </a:prstGeom>
          <a:solidFill>
            <a:srgbClr val="F4FAF9"/>
          </a:solidFill>
          <a:ln/>
          <a:effectLst>
            <a:outerShdw blurRad="76200" dist="25400" dir="5400000" algn="bl" rotWithShape="0">
              <a:srgbClr val="808080">
                <a:alpha val="25000"/>
              </a:srgbClr>
            </a:outerShdw>
          </a:effectLst>
        </p:spPr>
      </p:sp>
      <p:sp>
        <p:nvSpPr>
          <p:cNvPr id="5" name="Shape 3"/>
          <p:cNvSpPr/>
          <p:nvPr/>
        </p:nvSpPr>
        <p:spPr>
          <a:xfrm>
            <a:off x="822960" y="2057400"/>
            <a:ext cx="640080" cy="640080"/>
          </a:xfrm>
          <a:prstGeom prst="ellipse">
            <a:avLst/>
          </a:prstGeom>
          <a:solidFill>
            <a:srgbClr val="028090"/>
          </a:solidFill>
          <a:ln/>
        </p:spPr>
      </p:sp>
      <p:sp>
        <p:nvSpPr>
          <p:cNvPr id="6" name="Text 4"/>
          <p:cNvSpPr/>
          <p:nvPr/>
        </p:nvSpPr>
        <p:spPr>
          <a:xfrm>
            <a:off x="822960" y="2057400"/>
            <a:ext cx="640080" cy="6400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822960" y="2880360"/>
            <a:ext cx="3044952" cy="777240"/>
          </a:xfrm>
          <a:prstGeom prst="rect">
            <a:avLst/>
          </a:prstGeom>
          <a:noFill/>
          <a:ln/>
        </p:spPr>
        <p:txBody>
          <a:bodyPr wrap="square" rtlCol="0" anchor="ctr"/>
          <a:lstStyle/>
          <a:p>
            <a:pPr marL="0" indent="0">
              <a:lnSpc>
                <a:spcPct val="110000"/>
              </a:lnSpc>
              <a:buNone/>
            </a:pPr>
            <a:r>
              <a:rPr lang="en-US" sz="1600" b="1" dirty="0">
                <a:solidFill>
                  <a:srgbClr val="1B2E30"/>
                </a:solidFill>
                <a:latin typeface="Cambria" pitchFamily="34" charset="0"/>
                <a:ea typeface="Cambria" pitchFamily="34" charset="-122"/>
                <a:cs typeface="Cambria" pitchFamily="34" charset="-120"/>
              </a:rPr>
              <a:t>Help Others Make Money</a:t>
            </a:r>
            <a:endParaRPr lang="en-US" sz="1600" dirty="0"/>
          </a:p>
        </p:txBody>
      </p:sp>
      <p:sp>
        <p:nvSpPr>
          <p:cNvPr id="8" name="Text 6"/>
          <p:cNvSpPr/>
          <p:nvPr/>
        </p:nvSpPr>
        <p:spPr>
          <a:xfrm>
            <a:off x="914400" y="3429000"/>
            <a:ext cx="3044952" cy="2194560"/>
          </a:xfrm>
          <a:prstGeom prst="rect">
            <a:avLst/>
          </a:prstGeom>
          <a:noFill/>
          <a:ln/>
        </p:spPr>
        <p:txBody>
          <a:bodyPr wrap="square" rtlCol="0" anchor="ctr"/>
          <a:lstStyle/>
          <a:p>
            <a:pPr marL="0" indent="0">
              <a:lnSpc>
                <a:spcPct val="125000"/>
              </a:lnSpc>
              <a:buNone/>
            </a:pPr>
            <a:r>
              <a:rPr lang="yo-NG" sz="1200" dirty="0">
                <a:solidFill>
                  <a:srgbClr val="5C6B6C"/>
                </a:solidFill>
                <a:latin typeface="Calibri" pitchFamily="34" charset="0"/>
                <a:ea typeface="Calibri" pitchFamily="34" charset="-122"/>
                <a:cs typeface="Calibri" pitchFamily="34" charset="-120"/>
              </a:rPr>
              <a:t>“Make money for your friend so you won’t have to worry about money in life.” In other words, the more value you create for others and the more opportunities you help them access, the more opportunities come back to you.</a:t>
            </a:r>
            <a:endParaRPr lang="en-US" sz="1200" dirty="0"/>
          </a:p>
        </p:txBody>
      </p:sp>
      <p:sp>
        <p:nvSpPr>
          <p:cNvPr id="9" name="Shape 7"/>
          <p:cNvSpPr/>
          <p:nvPr/>
        </p:nvSpPr>
        <p:spPr>
          <a:xfrm>
            <a:off x="4325112" y="1783080"/>
            <a:ext cx="3593592" cy="4251960"/>
          </a:xfrm>
          <a:prstGeom prst="roundRect">
            <a:avLst>
              <a:gd name="adj" fmla="val 2036"/>
            </a:avLst>
          </a:prstGeom>
          <a:solidFill>
            <a:srgbClr val="F4FAF9"/>
          </a:solidFill>
          <a:ln/>
          <a:effectLst>
            <a:outerShdw blurRad="76200" dist="25400" dir="5400000" algn="bl" rotWithShape="0">
              <a:srgbClr val="808080">
                <a:alpha val="25000"/>
              </a:srgbClr>
            </a:outerShdw>
          </a:effectLst>
        </p:spPr>
      </p:sp>
      <p:sp>
        <p:nvSpPr>
          <p:cNvPr id="10" name="Shape 8"/>
          <p:cNvSpPr/>
          <p:nvPr/>
        </p:nvSpPr>
        <p:spPr>
          <a:xfrm>
            <a:off x="4599432" y="2057400"/>
            <a:ext cx="640080" cy="640080"/>
          </a:xfrm>
          <a:prstGeom prst="ellipse">
            <a:avLst/>
          </a:prstGeom>
          <a:solidFill>
            <a:srgbClr val="028090"/>
          </a:solidFill>
          <a:ln/>
        </p:spPr>
      </p:sp>
      <p:sp>
        <p:nvSpPr>
          <p:cNvPr id="11" name="Text 9"/>
          <p:cNvSpPr/>
          <p:nvPr/>
        </p:nvSpPr>
        <p:spPr>
          <a:xfrm>
            <a:off x="4599432" y="2057400"/>
            <a:ext cx="640080" cy="6400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4599432" y="2880360"/>
            <a:ext cx="3044952" cy="777240"/>
          </a:xfrm>
          <a:prstGeom prst="rect">
            <a:avLst/>
          </a:prstGeom>
          <a:noFill/>
          <a:ln/>
        </p:spPr>
        <p:txBody>
          <a:bodyPr wrap="square" rtlCol="0" anchor="ctr"/>
          <a:lstStyle/>
          <a:p>
            <a:pPr marL="0" indent="0">
              <a:lnSpc>
                <a:spcPct val="110000"/>
              </a:lnSpc>
              <a:buNone/>
            </a:pPr>
            <a:r>
              <a:rPr lang="en-US" sz="1600" b="1" dirty="0">
                <a:solidFill>
                  <a:srgbClr val="1B2E30"/>
                </a:solidFill>
                <a:latin typeface="Cambria" pitchFamily="34" charset="0"/>
                <a:ea typeface="Cambria" pitchFamily="34" charset="-122"/>
                <a:cs typeface="Cambria" pitchFamily="34" charset="-120"/>
              </a:rPr>
              <a:t>Be Ready to Serve</a:t>
            </a:r>
            <a:endParaRPr lang="en-US" sz="1600" dirty="0"/>
          </a:p>
        </p:txBody>
      </p:sp>
      <p:sp>
        <p:nvSpPr>
          <p:cNvPr id="13" name="Text 11"/>
          <p:cNvSpPr/>
          <p:nvPr/>
        </p:nvSpPr>
        <p:spPr>
          <a:xfrm>
            <a:off x="4873752" y="3268980"/>
            <a:ext cx="3044952" cy="2194560"/>
          </a:xfrm>
          <a:prstGeom prst="rect">
            <a:avLst/>
          </a:prstGeom>
          <a:noFill/>
          <a:ln/>
        </p:spPr>
        <p:txBody>
          <a:bodyPr wrap="square" rtlCol="0" anchor="ctr"/>
          <a:lstStyle/>
          <a:p>
            <a:pPr marL="0" indent="0">
              <a:lnSpc>
                <a:spcPct val="125000"/>
              </a:lnSpc>
              <a:buNone/>
            </a:pPr>
            <a:r>
              <a:rPr lang="yo-NG" sz="1200" dirty="0">
                <a:solidFill>
                  <a:srgbClr val="5C6B6C"/>
                </a:solidFill>
                <a:latin typeface="Calibri" pitchFamily="34" charset="0"/>
                <a:ea typeface="Calibri" pitchFamily="34" charset="-122"/>
                <a:cs typeface="Calibri" pitchFamily="34" charset="-120"/>
              </a:rPr>
              <a:t>Another lesson was to give, give, give, and keep giving. The more value you give to people, the more you learn, the greater impact you make, and the more people trust, appreciate, and recommend you.</a:t>
            </a:r>
            <a:r>
              <a:rPr lang="en-US" sz="1200" dirty="0">
                <a:solidFill>
                  <a:srgbClr val="5C6B6C"/>
                </a:solidFill>
                <a:latin typeface="Calibri" pitchFamily="34" charset="0"/>
                <a:ea typeface="Calibri" pitchFamily="34" charset="-122"/>
                <a:cs typeface="Calibri" pitchFamily="34" charset="-120"/>
              </a:rPr>
              <a:t> </a:t>
            </a:r>
            <a:endParaRPr lang="en-US" sz="1200" dirty="0"/>
          </a:p>
        </p:txBody>
      </p:sp>
      <p:sp>
        <p:nvSpPr>
          <p:cNvPr id="14" name="Shape 12"/>
          <p:cNvSpPr/>
          <p:nvPr/>
        </p:nvSpPr>
        <p:spPr>
          <a:xfrm>
            <a:off x="8049768" y="1783080"/>
            <a:ext cx="3593592" cy="4251960"/>
          </a:xfrm>
          <a:prstGeom prst="roundRect">
            <a:avLst>
              <a:gd name="adj" fmla="val 2036"/>
            </a:avLst>
          </a:prstGeom>
          <a:solidFill>
            <a:srgbClr val="F4FAF9"/>
          </a:solidFill>
          <a:ln/>
          <a:effectLst>
            <a:outerShdw blurRad="76200" dist="25400" dir="5400000" algn="bl" rotWithShape="0">
              <a:srgbClr val="808080">
                <a:alpha val="25000"/>
              </a:srgbClr>
            </a:outerShdw>
          </a:effectLst>
        </p:spPr>
      </p:sp>
      <p:sp>
        <p:nvSpPr>
          <p:cNvPr id="15" name="Shape 13"/>
          <p:cNvSpPr/>
          <p:nvPr/>
        </p:nvSpPr>
        <p:spPr>
          <a:xfrm>
            <a:off x="8375904" y="2057400"/>
            <a:ext cx="640080" cy="640080"/>
          </a:xfrm>
          <a:prstGeom prst="ellipse">
            <a:avLst/>
          </a:prstGeom>
          <a:solidFill>
            <a:srgbClr val="028090"/>
          </a:solidFill>
          <a:ln/>
        </p:spPr>
      </p:sp>
      <p:sp>
        <p:nvSpPr>
          <p:cNvPr id="16" name="Text 14"/>
          <p:cNvSpPr/>
          <p:nvPr/>
        </p:nvSpPr>
        <p:spPr>
          <a:xfrm>
            <a:off x="8375904" y="2057400"/>
            <a:ext cx="640080" cy="6400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8375904" y="2880360"/>
            <a:ext cx="3044952" cy="777240"/>
          </a:xfrm>
          <a:prstGeom prst="rect">
            <a:avLst/>
          </a:prstGeom>
          <a:noFill/>
          <a:ln/>
        </p:spPr>
        <p:txBody>
          <a:bodyPr wrap="square" rtlCol="0" anchor="ctr"/>
          <a:lstStyle/>
          <a:p>
            <a:pPr marL="0" indent="0">
              <a:lnSpc>
                <a:spcPct val="110000"/>
              </a:lnSpc>
              <a:buNone/>
            </a:pPr>
            <a:r>
              <a:rPr lang="en-US" sz="1600" b="1" dirty="0">
                <a:solidFill>
                  <a:srgbClr val="1B2E30"/>
                </a:solidFill>
                <a:latin typeface="Cambria" pitchFamily="34" charset="0"/>
                <a:ea typeface="Cambria" pitchFamily="34" charset="-122"/>
                <a:cs typeface="Cambria" pitchFamily="34" charset="-120"/>
              </a:rPr>
              <a:t>Perception and Visibility Matter</a:t>
            </a:r>
            <a:endParaRPr lang="en-US" sz="1600" dirty="0"/>
          </a:p>
        </p:txBody>
      </p:sp>
      <p:sp>
        <p:nvSpPr>
          <p:cNvPr id="18" name="Text 16"/>
          <p:cNvSpPr/>
          <p:nvPr/>
        </p:nvSpPr>
        <p:spPr>
          <a:xfrm>
            <a:off x="8375904" y="3703320"/>
            <a:ext cx="3044952" cy="2194560"/>
          </a:xfrm>
          <a:prstGeom prst="rect">
            <a:avLst/>
          </a:prstGeom>
          <a:noFill/>
          <a:ln/>
        </p:spPr>
        <p:txBody>
          <a:bodyPr wrap="square" rtlCol="0" anchor="ctr"/>
          <a:lstStyle/>
          <a:p>
            <a:pPr marL="0" indent="0">
              <a:lnSpc>
                <a:spcPct val="125000"/>
              </a:lnSpc>
              <a:buNone/>
            </a:pPr>
            <a:r>
              <a:rPr lang="yo-NG" sz="1200" dirty="0">
                <a:solidFill>
                  <a:srgbClr val="5C6B6C"/>
                </a:solidFill>
                <a:latin typeface="Calibri" pitchFamily="34" charset="0"/>
                <a:ea typeface="Calibri" pitchFamily="34" charset="-122"/>
                <a:cs typeface="Calibri" pitchFamily="34" charset="-120"/>
              </a:rPr>
              <a:t>You can know and still remain unknown because people are unaware of what you can do. If you consistently serve people and make your skills visible, you become someone others naturally recommend. Branding never sleeps, even Coca-Cola keeps advertising to stay visible. No matter how talented you are, if people do not know you, your opportunities become limited.</a:t>
            </a:r>
            <a:endParaRPr lang="en-US" sz="1200" dirty="0"/>
          </a:p>
        </p:txBody>
      </p:sp>
      <p:sp>
        <p:nvSpPr>
          <p:cNvPr id="19" name="Text 17"/>
          <p:cNvSpPr/>
          <p:nvPr/>
        </p:nvSpPr>
        <p:spPr>
          <a:xfrm>
            <a:off x="11521440" y="6446520"/>
            <a:ext cx="457200" cy="320040"/>
          </a:xfrm>
          <a:prstGeom prst="rect">
            <a:avLst/>
          </a:prstGeom>
          <a:noFill/>
          <a:ln/>
        </p:spPr>
        <p:txBody>
          <a:bodyPr wrap="square" rtlCol="0" anchor="ctr"/>
          <a:lstStyle/>
          <a:p>
            <a:pPr marL="0" indent="0" algn="r">
              <a:buNone/>
            </a:pPr>
            <a:r>
              <a:rPr lang="en-US" sz="1000" dirty="0">
                <a:solidFill>
                  <a:srgbClr val="5C6B6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AF9"/>
        </a:solidFill>
        <a:effectLst/>
      </p:bgPr>
    </p:bg>
    <p:spTree>
      <p:nvGrpSpPr>
        <p:cNvPr id="1" name=""/>
        <p:cNvGrpSpPr/>
        <p:nvPr/>
      </p:nvGrpSpPr>
      <p:grpSpPr>
        <a:xfrm>
          <a:off x="0" y="0"/>
          <a:ext cx="0" cy="0"/>
          <a:chOff x="0" y="0"/>
          <a:chExt cx="0" cy="0"/>
        </a:xfrm>
      </p:grpSpPr>
      <p:sp>
        <p:nvSpPr>
          <p:cNvPr id="2" name="Shape 0"/>
          <p:cNvSpPr/>
          <p:nvPr/>
        </p:nvSpPr>
        <p:spPr>
          <a:xfrm>
            <a:off x="9052560" y="0"/>
            <a:ext cx="3108960" cy="6858000"/>
          </a:xfrm>
          <a:prstGeom prst="rect">
            <a:avLst/>
          </a:prstGeom>
          <a:solidFill>
            <a:srgbClr val="028090"/>
          </a:solidFill>
          <a:ln/>
        </p:spPr>
      </p:sp>
      <p:sp>
        <p:nvSpPr>
          <p:cNvPr id="3" name="Shape 1"/>
          <p:cNvSpPr/>
          <p:nvPr/>
        </p:nvSpPr>
        <p:spPr>
          <a:xfrm>
            <a:off x="9692640" y="5120640"/>
            <a:ext cx="3108960" cy="3108960"/>
          </a:xfrm>
          <a:prstGeom prst="ellipse">
            <a:avLst/>
          </a:prstGeom>
          <a:solidFill>
            <a:srgbClr val="00A896">
              <a:alpha val="60000"/>
            </a:srgbClr>
          </a:solidFill>
          <a:ln/>
        </p:spPr>
      </p:sp>
      <p:sp>
        <p:nvSpPr>
          <p:cNvPr id="4" name="Text 2"/>
          <p:cNvSpPr/>
          <p:nvPr/>
        </p:nvSpPr>
        <p:spPr>
          <a:xfrm>
            <a:off x="8650206" y="2837531"/>
            <a:ext cx="3547908" cy="2439244"/>
          </a:xfrm>
          <a:prstGeom prst="rect">
            <a:avLst/>
          </a:prstGeom>
          <a:noFill/>
          <a:ln/>
        </p:spPr>
        <p:txBody>
          <a:bodyPr wrap="square" rtlCol="0" anchor="ctr"/>
          <a:lstStyle/>
          <a:p>
            <a:pPr marL="0" indent="0" algn="ctr">
              <a:lnSpc>
                <a:spcPct val="120000"/>
              </a:lnSpc>
              <a:buNone/>
            </a:pPr>
            <a:r>
              <a:rPr lang="yo-NG" sz="2000" b="1" dirty="0">
                <a:solidFill>
                  <a:srgbClr val="FFFFFF"/>
                </a:solidFill>
                <a:latin typeface="Cambria" pitchFamily="34" charset="0"/>
                <a:ea typeface="Cambria" pitchFamily="34" charset="-122"/>
                <a:cs typeface="Cambria" pitchFamily="34" charset="-120"/>
              </a:rPr>
              <a:t>HEALTHCARE </a:t>
            </a:r>
            <a:r>
              <a:rPr lang="en-US" sz="2000" b="1" dirty="0">
                <a:solidFill>
                  <a:srgbClr val="FFFFFF"/>
                </a:solidFill>
                <a:latin typeface="Cambria" pitchFamily="34" charset="0"/>
                <a:ea typeface="Cambria" pitchFamily="34" charset="-122"/>
                <a:cs typeface="Cambria" pitchFamily="34" charset="-120"/>
              </a:rPr>
              <a:t> +  TECHNOLOGY</a:t>
            </a:r>
            <a:endParaRPr lang="en-US" sz="2000" dirty="0"/>
          </a:p>
        </p:txBody>
      </p:sp>
      <p:sp>
        <p:nvSpPr>
          <p:cNvPr id="5" name="Text 3"/>
          <p:cNvSpPr/>
          <p:nvPr/>
        </p:nvSpPr>
        <p:spPr>
          <a:xfrm>
            <a:off x="548640" y="457200"/>
            <a:ext cx="7315200" cy="640080"/>
          </a:xfrm>
          <a:prstGeom prst="rect">
            <a:avLst/>
          </a:prstGeom>
          <a:noFill/>
          <a:ln/>
        </p:spPr>
        <p:txBody>
          <a:bodyPr wrap="square" rtlCol="0" anchor="ctr"/>
          <a:lstStyle/>
          <a:p>
            <a:pPr marL="0" indent="0">
              <a:buNone/>
            </a:pPr>
            <a:r>
              <a:rPr lang="en-US" sz="2800" b="1" dirty="0">
                <a:solidFill>
                  <a:srgbClr val="1B2E30"/>
                </a:solidFill>
                <a:latin typeface="Cambria" pitchFamily="34" charset="0"/>
                <a:ea typeface="Cambria" pitchFamily="34" charset="-122"/>
                <a:cs typeface="Cambria" pitchFamily="34" charset="-120"/>
              </a:rPr>
              <a:t>How </a:t>
            </a:r>
            <a:r>
              <a:rPr lang="yo-NG" sz="2800" b="1" dirty="0">
                <a:solidFill>
                  <a:srgbClr val="1B2E30"/>
                </a:solidFill>
                <a:latin typeface="Cambria" pitchFamily="34" charset="0"/>
                <a:ea typeface="Cambria" pitchFamily="34" charset="-122"/>
                <a:cs typeface="Cambria" pitchFamily="34" charset="-120"/>
              </a:rPr>
              <a:t>It</a:t>
            </a:r>
            <a:r>
              <a:rPr lang="en-US" sz="2800" b="1" dirty="0">
                <a:solidFill>
                  <a:srgbClr val="1B2E30"/>
                </a:solidFill>
                <a:latin typeface="Cambria" pitchFamily="34" charset="0"/>
                <a:ea typeface="Cambria" pitchFamily="34" charset="-122"/>
                <a:cs typeface="Cambria" pitchFamily="34" charset="-120"/>
              </a:rPr>
              <a:t> Resonates With Me</a:t>
            </a:r>
            <a:endParaRPr lang="en-US" sz="2800" dirty="0"/>
          </a:p>
        </p:txBody>
      </p:sp>
      <p:sp>
        <p:nvSpPr>
          <p:cNvPr id="6" name="Text 4"/>
          <p:cNvSpPr/>
          <p:nvPr/>
        </p:nvSpPr>
        <p:spPr>
          <a:xfrm>
            <a:off x="585234" y="1193236"/>
            <a:ext cx="7800230" cy="2023427"/>
          </a:xfrm>
          <a:prstGeom prst="rect">
            <a:avLst/>
          </a:prstGeom>
          <a:noFill/>
          <a:ln/>
        </p:spPr>
        <p:txBody>
          <a:bodyPr wrap="square" rtlCol="0" anchor="ctr"/>
          <a:lstStyle/>
          <a:p>
            <a:pPr marL="0" indent="0">
              <a:lnSpc>
                <a:spcPct val="130000"/>
              </a:lnSpc>
              <a:buNone/>
            </a:pPr>
            <a:r>
              <a:rPr lang="yo-NG" sz="1500" b="1" dirty="0">
                <a:solidFill>
                  <a:schemeClr val="accent6"/>
                </a:solidFill>
                <a:latin typeface="Calibri" pitchFamily="34" charset="0"/>
                <a:ea typeface="Calibri" pitchFamily="34" charset="-122"/>
                <a:cs typeface="Calibri" pitchFamily="34" charset="-120"/>
              </a:rPr>
              <a:t>How th</a:t>
            </a:r>
            <a:r>
              <a:rPr lang="en-US" sz="1500" b="1" dirty="0">
                <a:solidFill>
                  <a:schemeClr val="accent6"/>
                </a:solidFill>
                <a:latin typeface="Calibri" pitchFamily="34" charset="0"/>
                <a:ea typeface="Calibri" pitchFamily="34" charset="-122"/>
                <a:cs typeface="Calibri" pitchFamily="34" charset="-120"/>
              </a:rPr>
              <a:t>is message </a:t>
            </a:r>
            <a:r>
              <a:rPr lang="yo-NG" sz="1500" b="1" dirty="0">
                <a:solidFill>
                  <a:schemeClr val="accent6"/>
                </a:solidFill>
                <a:latin typeface="Calibri" pitchFamily="34" charset="0"/>
                <a:ea typeface="Calibri" pitchFamily="34" charset="-122"/>
                <a:cs typeface="Calibri" pitchFamily="34" charset="-120"/>
              </a:rPr>
              <a:t>resonate with me and how it </a:t>
            </a:r>
            <a:r>
              <a:rPr lang="en-US" sz="1500" b="1" dirty="0">
                <a:solidFill>
                  <a:schemeClr val="accent6"/>
                </a:solidFill>
                <a:latin typeface="Calibri" pitchFamily="34" charset="0"/>
                <a:ea typeface="Calibri" pitchFamily="34" charset="-122"/>
                <a:cs typeface="Calibri" pitchFamily="34" charset="-120"/>
              </a:rPr>
              <a:t>perfectly aligns with what I am currently learning at IOTB</a:t>
            </a:r>
            <a:r>
              <a:rPr lang="yo-NG" sz="1500" b="1" dirty="0">
                <a:solidFill>
                  <a:schemeClr val="accent6"/>
                </a:solidFill>
                <a:latin typeface="Calibri" pitchFamily="34" charset="0"/>
                <a:ea typeface="Calibri" pitchFamily="34" charset="-122"/>
                <a:cs typeface="Calibri" pitchFamily="34" charset="-120"/>
              </a:rPr>
              <a:t>T</a:t>
            </a:r>
            <a:r>
              <a:rPr lang="en-US" sz="1500" b="1" dirty="0" err="1">
                <a:solidFill>
                  <a:schemeClr val="accent6"/>
                </a:solidFill>
                <a:latin typeface="Calibri" pitchFamily="34" charset="0"/>
                <a:ea typeface="Calibri" pitchFamily="34" charset="-122"/>
                <a:cs typeface="Calibri" pitchFamily="34" charset="-120"/>
              </a:rPr>
              <a:t>ech</a:t>
            </a:r>
            <a:r>
              <a:rPr lang="en-US" sz="1500" b="1" dirty="0">
                <a:solidFill>
                  <a:schemeClr val="accent6"/>
                </a:solidFill>
                <a:latin typeface="Calibri" pitchFamily="34" charset="0"/>
                <a:ea typeface="Calibri" pitchFamily="34" charset="-122"/>
                <a:cs typeface="Calibri" pitchFamily="34" charset="-120"/>
              </a:rPr>
              <a:t> and the stage of life I am in. </a:t>
            </a:r>
            <a:endParaRPr lang="yo-NG" sz="1500" b="1" dirty="0">
              <a:solidFill>
                <a:schemeClr val="accent6"/>
              </a:solidFill>
              <a:latin typeface="Calibri" pitchFamily="34" charset="0"/>
              <a:ea typeface="Calibri" pitchFamily="34" charset="-122"/>
              <a:cs typeface="Calibri" pitchFamily="34" charset="-120"/>
            </a:endParaRPr>
          </a:p>
          <a:p>
            <a:pPr marL="0" indent="0">
              <a:lnSpc>
                <a:spcPct val="130000"/>
              </a:lnSpc>
              <a:buNone/>
            </a:pPr>
            <a:r>
              <a:rPr lang="yo-NG" sz="1500" dirty="0">
                <a:solidFill>
                  <a:srgbClr val="1B2E30"/>
                </a:solidFill>
                <a:latin typeface="Calibri" pitchFamily="34" charset="0"/>
                <a:ea typeface="Calibri" pitchFamily="34" charset="-122"/>
                <a:cs typeface="Calibri" pitchFamily="34" charset="-120"/>
              </a:rPr>
              <a:t>Firstly, I</a:t>
            </a:r>
            <a:r>
              <a:rPr lang="en-US" sz="1500" dirty="0">
                <a:solidFill>
                  <a:srgbClr val="1B2E30"/>
                </a:solidFill>
                <a:latin typeface="Calibri" pitchFamily="34" charset="0"/>
                <a:ea typeface="Calibri" pitchFamily="34" charset="-122"/>
                <a:cs typeface="Calibri" pitchFamily="34" charset="-120"/>
              </a:rPr>
              <a:t> am a medical student with a strong passion for technology, particularly in finding ways technology can improve healthcare. That is one of the reasons I chose the Data Analytics track at IOTB Tech, and I have never regretted that decision despite the challenges, time constraints, and demands of</a:t>
            </a:r>
            <a:r>
              <a:rPr lang="yo-NG" sz="1500" dirty="0">
                <a:solidFill>
                  <a:srgbClr val="1B2E30"/>
                </a:solidFill>
                <a:latin typeface="Calibri" pitchFamily="34" charset="0"/>
                <a:ea typeface="Calibri" pitchFamily="34" charset="-122"/>
                <a:cs typeface="Calibri" pitchFamily="34" charset="-120"/>
              </a:rPr>
              <a:t> </a:t>
            </a:r>
            <a:r>
              <a:rPr lang="en-US" sz="1500" dirty="0">
                <a:solidFill>
                  <a:srgbClr val="1B2E30"/>
                </a:solidFill>
                <a:latin typeface="Calibri" pitchFamily="34" charset="0"/>
                <a:ea typeface="Calibri" pitchFamily="34" charset="-122"/>
                <a:cs typeface="Calibri" pitchFamily="34" charset="-120"/>
              </a:rPr>
              <a:t>school</a:t>
            </a:r>
            <a:r>
              <a:rPr lang="yo-NG" sz="1500" dirty="0">
                <a:solidFill>
                  <a:srgbClr val="1B2E30"/>
                </a:solidFill>
                <a:latin typeface="Calibri" pitchFamily="34" charset="0"/>
                <a:ea typeface="Calibri" pitchFamily="34" charset="-122"/>
                <a:cs typeface="Calibri" pitchFamily="34" charset="-120"/>
              </a:rPr>
              <a:t>, assignment deadlines and the likes I am proud of who I am becoming and keep hoping for the best.</a:t>
            </a:r>
            <a:endParaRPr lang="en-US" sz="1500" dirty="0"/>
          </a:p>
        </p:txBody>
      </p:sp>
      <p:sp>
        <p:nvSpPr>
          <p:cNvPr id="7" name="Text 5"/>
          <p:cNvSpPr/>
          <p:nvPr/>
        </p:nvSpPr>
        <p:spPr>
          <a:xfrm>
            <a:off x="585234" y="2806628"/>
            <a:ext cx="8064972" cy="4385687"/>
          </a:xfrm>
          <a:prstGeom prst="rect">
            <a:avLst/>
          </a:prstGeom>
          <a:noFill/>
          <a:ln/>
        </p:spPr>
        <p:txBody>
          <a:bodyPr wrap="square" rtlCol="0" anchor="ctr"/>
          <a:lstStyle/>
          <a:p>
            <a:pPr marL="0" indent="0">
              <a:lnSpc>
                <a:spcPct val="130000"/>
              </a:lnSpc>
              <a:buNone/>
            </a:pPr>
            <a:r>
              <a:rPr lang="yo-NG" sz="1500" dirty="0">
                <a:solidFill>
                  <a:srgbClr val="5C6B6C"/>
                </a:solidFill>
                <a:latin typeface="Calibri" pitchFamily="34" charset="0"/>
                <a:ea typeface="Calibri" pitchFamily="34" charset="-122"/>
                <a:cs typeface="Calibri" pitchFamily="34" charset="-120"/>
              </a:rPr>
              <a:t>Secondly, this also resonated with me in the sense that one can achieve anything if they have a clear vision and are willing to work towards it, regardless of their background. Sometimes, I used to think that because I came from a humble background, I was limited in some ways or not privileged. Yes, I might not be privileged in some aspects, but I am not limited in how far I can go in life.
Sometimes, I use being a medical student as an excuse, but in reality, many of my peers are doing well despite being medical students. I want to challenge myself to step out of my comfort zone, make a meaningful impact, and stop placing unnecessary limitations on myself while still maintaining my great  academic integrity.
The saddest part is when the future you rely on becomes blurry and seems uncertain due to the current situation surrounding the profession. So, why should I limit myself from doing extraordinary things when I have the opportunity to do so?</a:t>
            </a:r>
          </a:p>
          <a:p>
            <a:pPr marL="0" indent="0">
              <a:lnSpc>
                <a:spcPct val="130000"/>
              </a:lnSpc>
              <a:buNone/>
            </a:pPr>
            <a:endParaRPr lang="en-US" sz="1500" dirty="0"/>
          </a:p>
        </p:txBody>
      </p:sp>
      <p:sp>
        <p:nvSpPr>
          <p:cNvPr id="8" name="Text 6"/>
          <p:cNvSpPr/>
          <p:nvPr/>
        </p:nvSpPr>
        <p:spPr>
          <a:xfrm>
            <a:off x="11521440" y="6446520"/>
            <a:ext cx="457200" cy="320040"/>
          </a:xfrm>
          <a:prstGeom prst="rect">
            <a:avLst/>
          </a:prstGeom>
          <a:noFill/>
          <a:ln/>
        </p:spPr>
        <p:txBody>
          <a:bodyPr wrap="square" rtlCol="0" anchor="ctr"/>
          <a:lstStyle/>
          <a:p>
            <a:pPr marL="0" indent="0" algn="r">
              <a:buNone/>
            </a:pPr>
            <a:r>
              <a:rPr lang="en-US" sz="1000" dirty="0">
                <a:solidFill>
                  <a:srgbClr val="5C6B6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457200"/>
          </a:xfrm>
          <a:prstGeom prst="rect">
            <a:avLst/>
          </a:prstGeom>
          <a:noFill/>
          <a:ln/>
        </p:spPr>
        <p:txBody>
          <a:bodyPr wrap="square" rtlCol="0" anchor="ctr"/>
          <a:lstStyle/>
          <a:p>
            <a:pPr marL="0" indent="0">
              <a:buNone/>
            </a:pPr>
            <a:r>
              <a:rPr lang="en-US" sz="1400" i="1" dirty="0">
                <a:solidFill>
                  <a:srgbClr val="5C6B6C"/>
                </a:solidFill>
                <a:latin typeface="Calibri" pitchFamily="34" charset="0"/>
                <a:ea typeface="Calibri" pitchFamily="34" charset="-122"/>
                <a:cs typeface="Calibri" pitchFamily="34" charset="-120"/>
              </a:rPr>
              <a:t>Reflecting on the video helped me identify some reasons:</a:t>
            </a:r>
            <a:endParaRPr lang="en-US" sz="1400" dirty="0"/>
          </a:p>
        </p:txBody>
      </p:sp>
      <p:sp>
        <p:nvSpPr>
          <p:cNvPr id="3" name="Text 1"/>
          <p:cNvSpPr/>
          <p:nvPr/>
        </p:nvSpPr>
        <p:spPr>
          <a:xfrm>
            <a:off x="548640" y="777240"/>
            <a:ext cx="7315200" cy="640080"/>
          </a:xfrm>
          <a:prstGeom prst="rect">
            <a:avLst/>
          </a:prstGeom>
          <a:noFill/>
          <a:ln/>
        </p:spPr>
        <p:txBody>
          <a:bodyPr wrap="square" rtlCol="0" anchor="ctr"/>
          <a:lstStyle/>
          <a:p>
            <a:pPr marL="0" indent="0">
              <a:buNone/>
            </a:pPr>
            <a:r>
              <a:rPr lang="en-US" sz="2800" b="1" dirty="0">
                <a:solidFill>
                  <a:srgbClr val="1B2E30"/>
                </a:solidFill>
                <a:latin typeface="Cambria" pitchFamily="34" charset="0"/>
                <a:ea typeface="Cambria" pitchFamily="34" charset="-122"/>
                <a:cs typeface="Cambria" pitchFamily="34" charset="-120"/>
              </a:rPr>
              <a:t>Where I Fall Short</a:t>
            </a:r>
            <a:r>
              <a:rPr lang="yo-NG" sz="2800" b="1" dirty="0">
                <a:solidFill>
                  <a:srgbClr val="1B2E30"/>
                </a:solidFill>
                <a:latin typeface="Cambria" pitchFamily="34" charset="0"/>
                <a:ea typeface="Cambria" pitchFamily="34" charset="-122"/>
                <a:cs typeface="Cambria" pitchFamily="34" charset="-120"/>
              </a:rPr>
              <a:t> And Need Improvement </a:t>
            </a:r>
            <a:endParaRPr lang="en-US" sz="2800" dirty="0"/>
          </a:p>
        </p:txBody>
      </p:sp>
      <p:sp>
        <p:nvSpPr>
          <p:cNvPr id="4" name="Shape 2"/>
          <p:cNvSpPr/>
          <p:nvPr/>
        </p:nvSpPr>
        <p:spPr>
          <a:xfrm>
            <a:off x="548640" y="1691640"/>
            <a:ext cx="5394960" cy="1280160"/>
          </a:xfrm>
          <a:prstGeom prst="roundRect">
            <a:avLst>
              <a:gd name="adj" fmla="val 4286"/>
            </a:avLst>
          </a:prstGeom>
          <a:solidFill>
            <a:srgbClr val="F4FAF9"/>
          </a:solidFill>
          <a:ln/>
        </p:spPr>
      </p:sp>
      <p:sp>
        <p:nvSpPr>
          <p:cNvPr id="5" name="Shape 3"/>
          <p:cNvSpPr/>
          <p:nvPr/>
        </p:nvSpPr>
        <p:spPr>
          <a:xfrm>
            <a:off x="777240" y="2080260"/>
            <a:ext cx="502920" cy="502920"/>
          </a:xfrm>
          <a:prstGeom prst="ellipse">
            <a:avLst/>
          </a:prstGeom>
          <a:solidFill>
            <a:srgbClr val="00A896"/>
          </a:solidFill>
          <a:ln/>
        </p:spPr>
      </p:sp>
      <p:sp>
        <p:nvSpPr>
          <p:cNvPr id="6" name="Text 4"/>
          <p:cNvSpPr/>
          <p:nvPr/>
        </p:nvSpPr>
        <p:spPr>
          <a:xfrm>
            <a:off x="777240" y="208026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63040" y="1691640"/>
            <a:ext cx="4251960" cy="1280160"/>
          </a:xfrm>
          <a:prstGeom prst="rect">
            <a:avLst/>
          </a:prstGeom>
          <a:noFill/>
          <a:ln/>
        </p:spPr>
        <p:txBody>
          <a:bodyPr wrap="square" rtlCol="0" anchor="ctr"/>
          <a:lstStyle/>
          <a:p>
            <a:pPr marL="0" indent="0">
              <a:lnSpc>
                <a:spcPct val="120000"/>
              </a:lnSpc>
              <a:buNone/>
            </a:pPr>
            <a:r>
              <a:rPr lang="en-US" sz="1350" dirty="0">
                <a:solidFill>
                  <a:srgbClr val="1B2E30"/>
                </a:solidFill>
                <a:latin typeface="Calibri" pitchFamily="34" charset="0"/>
                <a:ea typeface="Calibri" pitchFamily="34" charset="-122"/>
                <a:cs typeface="Calibri" pitchFamily="34" charset="-120"/>
              </a:rPr>
              <a:t>I rarely share what I know with others</a:t>
            </a:r>
            <a:r>
              <a:rPr lang="yo-NG" sz="1350" dirty="0">
                <a:solidFill>
                  <a:srgbClr val="1B2E30"/>
                </a:solidFill>
                <a:latin typeface="Calibri" pitchFamily="34" charset="0"/>
                <a:ea typeface="Calibri" pitchFamily="34" charset="-122"/>
                <a:cs typeface="Calibri" pitchFamily="34" charset="-120"/>
              </a:rPr>
              <a:t> because I believe I don’t know enough</a:t>
            </a:r>
            <a:r>
              <a:rPr lang="en-US" sz="1350" dirty="0">
                <a:solidFill>
                  <a:srgbClr val="1B2E30"/>
                </a:solidFill>
                <a:latin typeface="Calibri" pitchFamily="34" charset="0"/>
                <a:ea typeface="Calibri" pitchFamily="34" charset="-122"/>
                <a:cs typeface="Calibri" pitchFamily="34" charset="-120"/>
              </a:rPr>
              <a:t>.</a:t>
            </a:r>
            <a:endParaRPr lang="en-US" sz="1350" dirty="0"/>
          </a:p>
        </p:txBody>
      </p:sp>
      <p:sp>
        <p:nvSpPr>
          <p:cNvPr id="8" name="Shape 6"/>
          <p:cNvSpPr/>
          <p:nvPr/>
        </p:nvSpPr>
        <p:spPr>
          <a:xfrm>
            <a:off x="6400800" y="1691640"/>
            <a:ext cx="5394960" cy="1280160"/>
          </a:xfrm>
          <a:prstGeom prst="roundRect">
            <a:avLst>
              <a:gd name="adj" fmla="val 4286"/>
            </a:avLst>
          </a:prstGeom>
          <a:solidFill>
            <a:srgbClr val="F4FAF9"/>
          </a:solidFill>
          <a:ln/>
        </p:spPr>
      </p:sp>
      <p:sp>
        <p:nvSpPr>
          <p:cNvPr id="9" name="Shape 7"/>
          <p:cNvSpPr/>
          <p:nvPr/>
        </p:nvSpPr>
        <p:spPr>
          <a:xfrm>
            <a:off x="6629400" y="2080260"/>
            <a:ext cx="502920" cy="502920"/>
          </a:xfrm>
          <a:prstGeom prst="ellipse">
            <a:avLst/>
          </a:prstGeom>
          <a:solidFill>
            <a:srgbClr val="00A896"/>
          </a:solidFill>
          <a:ln/>
        </p:spPr>
      </p:sp>
      <p:sp>
        <p:nvSpPr>
          <p:cNvPr id="10" name="Text 8"/>
          <p:cNvSpPr/>
          <p:nvPr/>
        </p:nvSpPr>
        <p:spPr>
          <a:xfrm>
            <a:off x="6629400" y="208026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7315200" y="1691640"/>
            <a:ext cx="4251960" cy="1280160"/>
          </a:xfrm>
          <a:prstGeom prst="rect">
            <a:avLst/>
          </a:prstGeom>
          <a:noFill/>
          <a:ln/>
        </p:spPr>
        <p:txBody>
          <a:bodyPr wrap="square" rtlCol="0" anchor="ctr"/>
          <a:lstStyle/>
          <a:p>
            <a:pPr marL="0" indent="0">
              <a:lnSpc>
                <a:spcPct val="120000"/>
              </a:lnSpc>
              <a:buNone/>
            </a:pPr>
            <a:r>
              <a:rPr lang="en-US" sz="1350" dirty="0">
                <a:solidFill>
                  <a:srgbClr val="1B2E30"/>
                </a:solidFill>
                <a:latin typeface="Calibri" pitchFamily="34" charset="0"/>
                <a:ea typeface="Calibri" pitchFamily="34" charset="-122"/>
                <a:cs typeface="Calibri" pitchFamily="34" charset="-120"/>
              </a:rPr>
              <a:t>I do not connect with like-minded people.</a:t>
            </a:r>
            <a:endParaRPr lang="en-US" sz="1350" dirty="0"/>
          </a:p>
        </p:txBody>
      </p:sp>
      <p:sp>
        <p:nvSpPr>
          <p:cNvPr id="12" name="Shape 10"/>
          <p:cNvSpPr/>
          <p:nvPr/>
        </p:nvSpPr>
        <p:spPr>
          <a:xfrm>
            <a:off x="548640" y="3108960"/>
            <a:ext cx="5394960" cy="1280160"/>
          </a:xfrm>
          <a:prstGeom prst="roundRect">
            <a:avLst>
              <a:gd name="adj" fmla="val 4286"/>
            </a:avLst>
          </a:prstGeom>
          <a:solidFill>
            <a:srgbClr val="F4FAF9"/>
          </a:solidFill>
          <a:ln/>
        </p:spPr>
      </p:sp>
      <p:sp>
        <p:nvSpPr>
          <p:cNvPr id="13" name="Shape 11"/>
          <p:cNvSpPr/>
          <p:nvPr/>
        </p:nvSpPr>
        <p:spPr>
          <a:xfrm>
            <a:off x="777240" y="3497580"/>
            <a:ext cx="502920" cy="502920"/>
          </a:xfrm>
          <a:prstGeom prst="ellipse">
            <a:avLst/>
          </a:prstGeom>
          <a:solidFill>
            <a:srgbClr val="00A896"/>
          </a:solidFill>
          <a:ln/>
        </p:spPr>
      </p:sp>
      <p:sp>
        <p:nvSpPr>
          <p:cNvPr id="14" name="Text 12"/>
          <p:cNvSpPr/>
          <p:nvPr/>
        </p:nvSpPr>
        <p:spPr>
          <a:xfrm>
            <a:off x="777240" y="349758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463040" y="3108960"/>
            <a:ext cx="4251960" cy="1280160"/>
          </a:xfrm>
          <a:prstGeom prst="rect">
            <a:avLst/>
          </a:prstGeom>
          <a:noFill/>
          <a:ln/>
        </p:spPr>
        <p:txBody>
          <a:bodyPr wrap="square" rtlCol="0" anchor="ctr"/>
          <a:lstStyle/>
          <a:p>
            <a:pPr marL="0" indent="0">
              <a:lnSpc>
                <a:spcPct val="120000"/>
              </a:lnSpc>
              <a:buNone/>
            </a:pPr>
            <a:r>
              <a:rPr lang="en-US" sz="1350" dirty="0">
                <a:solidFill>
                  <a:srgbClr val="1B2E30"/>
                </a:solidFill>
                <a:latin typeface="Calibri" pitchFamily="34" charset="0"/>
                <a:ea typeface="Calibri" pitchFamily="34" charset="-122"/>
                <a:cs typeface="Calibri" pitchFamily="34" charset="-120"/>
              </a:rPr>
              <a:t>I often try to do everything alone instead of collaborating</a:t>
            </a:r>
            <a:r>
              <a:rPr lang="yo-NG" sz="1350" dirty="0">
                <a:solidFill>
                  <a:srgbClr val="1B2E30"/>
                </a:solidFill>
                <a:latin typeface="Calibri" pitchFamily="34" charset="0"/>
                <a:ea typeface="Calibri" pitchFamily="34" charset="-122"/>
                <a:cs typeface="Calibri" pitchFamily="34" charset="-120"/>
              </a:rPr>
              <a:t> or seeking guidance.</a:t>
            </a:r>
            <a:endParaRPr lang="en-US" sz="1350" dirty="0"/>
          </a:p>
        </p:txBody>
      </p:sp>
      <p:sp>
        <p:nvSpPr>
          <p:cNvPr id="16" name="Shape 14"/>
          <p:cNvSpPr/>
          <p:nvPr/>
        </p:nvSpPr>
        <p:spPr>
          <a:xfrm>
            <a:off x="6400800" y="3108960"/>
            <a:ext cx="5394960" cy="1280160"/>
          </a:xfrm>
          <a:prstGeom prst="roundRect">
            <a:avLst>
              <a:gd name="adj" fmla="val 4286"/>
            </a:avLst>
          </a:prstGeom>
          <a:solidFill>
            <a:srgbClr val="F4FAF9"/>
          </a:solidFill>
          <a:ln/>
        </p:spPr>
      </p:sp>
      <p:sp>
        <p:nvSpPr>
          <p:cNvPr id="17" name="Shape 15"/>
          <p:cNvSpPr/>
          <p:nvPr/>
        </p:nvSpPr>
        <p:spPr>
          <a:xfrm>
            <a:off x="6629400" y="3497580"/>
            <a:ext cx="502920" cy="502920"/>
          </a:xfrm>
          <a:prstGeom prst="ellipse">
            <a:avLst/>
          </a:prstGeom>
          <a:solidFill>
            <a:srgbClr val="00A896"/>
          </a:solidFill>
          <a:ln/>
        </p:spPr>
      </p:sp>
      <p:sp>
        <p:nvSpPr>
          <p:cNvPr id="18" name="Text 16"/>
          <p:cNvSpPr/>
          <p:nvPr/>
        </p:nvSpPr>
        <p:spPr>
          <a:xfrm>
            <a:off x="6629400" y="349758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7315200" y="3108960"/>
            <a:ext cx="4251960" cy="1280160"/>
          </a:xfrm>
          <a:prstGeom prst="rect">
            <a:avLst/>
          </a:prstGeom>
          <a:noFill/>
          <a:ln/>
        </p:spPr>
        <p:txBody>
          <a:bodyPr wrap="square" rtlCol="0" anchor="ctr"/>
          <a:lstStyle/>
          <a:p>
            <a:pPr marL="0" indent="0">
              <a:lnSpc>
                <a:spcPct val="120000"/>
              </a:lnSpc>
              <a:buNone/>
            </a:pPr>
            <a:r>
              <a:rPr lang="en-US" sz="1350" dirty="0">
                <a:solidFill>
                  <a:srgbClr val="1B2E30"/>
                </a:solidFill>
                <a:latin typeface="Calibri" pitchFamily="34" charset="0"/>
                <a:ea typeface="Calibri" pitchFamily="34" charset="-122"/>
                <a:cs typeface="Calibri" pitchFamily="34" charset="-120"/>
              </a:rPr>
              <a:t>I do not make my skills and capabilities visible.</a:t>
            </a:r>
            <a:endParaRPr lang="en-US" sz="1350" dirty="0"/>
          </a:p>
        </p:txBody>
      </p:sp>
      <p:sp>
        <p:nvSpPr>
          <p:cNvPr id="20" name="Shape 18"/>
          <p:cNvSpPr/>
          <p:nvPr/>
        </p:nvSpPr>
        <p:spPr>
          <a:xfrm>
            <a:off x="548640" y="4526280"/>
            <a:ext cx="5394960" cy="1280160"/>
          </a:xfrm>
          <a:prstGeom prst="roundRect">
            <a:avLst>
              <a:gd name="adj" fmla="val 4286"/>
            </a:avLst>
          </a:prstGeom>
          <a:solidFill>
            <a:srgbClr val="F4FAF9"/>
          </a:solidFill>
          <a:ln/>
        </p:spPr>
      </p:sp>
      <p:sp>
        <p:nvSpPr>
          <p:cNvPr id="21" name="Shape 19"/>
          <p:cNvSpPr/>
          <p:nvPr/>
        </p:nvSpPr>
        <p:spPr>
          <a:xfrm>
            <a:off x="777240" y="4914900"/>
            <a:ext cx="502920" cy="502920"/>
          </a:xfrm>
          <a:prstGeom prst="ellipse">
            <a:avLst/>
          </a:prstGeom>
          <a:solidFill>
            <a:srgbClr val="00A896"/>
          </a:solidFill>
          <a:ln/>
        </p:spPr>
      </p:sp>
      <p:sp>
        <p:nvSpPr>
          <p:cNvPr id="22" name="Text 20"/>
          <p:cNvSpPr/>
          <p:nvPr/>
        </p:nvSpPr>
        <p:spPr>
          <a:xfrm>
            <a:off x="777240" y="491490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1463040" y="4526280"/>
            <a:ext cx="4251960" cy="1280160"/>
          </a:xfrm>
          <a:prstGeom prst="rect">
            <a:avLst/>
          </a:prstGeom>
          <a:noFill/>
          <a:ln/>
        </p:spPr>
        <p:txBody>
          <a:bodyPr wrap="square" rtlCol="0" anchor="ctr"/>
          <a:lstStyle/>
          <a:p>
            <a:pPr marL="0" indent="0">
              <a:lnSpc>
                <a:spcPct val="120000"/>
              </a:lnSpc>
              <a:buNone/>
            </a:pPr>
            <a:r>
              <a:rPr lang="en-US" sz="1350" dirty="0">
                <a:solidFill>
                  <a:srgbClr val="1B2E30"/>
                </a:solidFill>
                <a:latin typeface="Calibri" pitchFamily="34" charset="0"/>
                <a:ea typeface="Calibri" pitchFamily="34" charset="-122"/>
                <a:cs typeface="Calibri" pitchFamily="34" charset="-120"/>
              </a:rPr>
              <a:t>I like exploring many different fields without having a clear focus or purpose.</a:t>
            </a:r>
            <a:endParaRPr lang="en-US" sz="1350" dirty="0"/>
          </a:p>
        </p:txBody>
      </p:sp>
      <p:sp>
        <p:nvSpPr>
          <p:cNvPr id="24" name="Shape 22"/>
          <p:cNvSpPr/>
          <p:nvPr/>
        </p:nvSpPr>
        <p:spPr>
          <a:xfrm>
            <a:off x="6400800" y="4526280"/>
            <a:ext cx="5394960" cy="1280160"/>
          </a:xfrm>
          <a:prstGeom prst="roundRect">
            <a:avLst>
              <a:gd name="adj" fmla="val 4286"/>
            </a:avLst>
          </a:prstGeom>
          <a:solidFill>
            <a:srgbClr val="F4FAF9"/>
          </a:solidFill>
          <a:ln/>
        </p:spPr>
      </p:sp>
      <p:sp>
        <p:nvSpPr>
          <p:cNvPr id="25" name="Shape 23"/>
          <p:cNvSpPr/>
          <p:nvPr/>
        </p:nvSpPr>
        <p:spPr>
          <a:xfrm>
            <a:off x="6629400" y="4914900"/>
            <a:ext cx="502920" cy="502920"/>
          </a:xfrm>
          <a:prstGeom prst="ellipse">
            <a:avLst/>
          </a:prstGeom>
          <a:solidFill>
            <a:srgbClr val="00A896"/>
          </a:solidFill>
          <a:ln/>
        </p:spPr>
      </p:sp>
      <p:sp>
        <p:nvSpPr>
          <p:cNvPr id="26" name="Text 24"/>
          <p:cNvSpPr/>
          <p:nvPr/>
        </p:nvSpPr>
        <p:spPr>
          <a:xfrm>
            <a:off x="6629400" y="491490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7" name="Text 25"/>
          <p:cNvSpPr/>
          <p:nvPr/>
        </p:nvSpPr>
        <p:spPr>
          <a:xfrm>
            <a:off x="7315200" y="4526280"/>
            <a:ext cx="4251960" cy="1280160"/>
          </a:xfrm>
          <a:prstGeom prst="rect">
            <a:avLst/>
          </a:prstGeom>
          <a:noFill/>
          <a:ln/>
        </p:spPr>
        <p:txBody>
          <a:bodyPr wrap="square" rtlCol="0" anchor="ctr"/>
          <a:lstStyle/>
          <a:p>
            <a:pPr marL="0" indent="0">
              <a:lnSpc>
                <a:spcPct val="120000"/>
              </a:lnSpc>
              <a:buNone/>
            </a:pPr>
            <a:r>
              <a:rPr lang="en-US" sz="1350" dirty="0">
                <a:solidFill>
                  <a:srgbClr val="1B2E30"/>
                </a:solidFill>
                <a:latin typeface="Calibri" pitchFamily="34" charset="0"/>
                <a:ea typeface="Calibri" pitchFamily="34" charset="-122"/>
                <a:cs typeface="Calibri" pitchFamily="34" charset="-120"/>
              </a:rPr>
              <a:t>I spend more time learning </a:t>
            </a:r>
            <a:r>
              <a:rPr lang="yo-NG" sz="1350" dirty="0">
                <a:solidFill>
                  <a:srgbClr val="1B2E30"/>
                </a:solidFill>
                <a:latin typeface="Calibri" pitchFamily="34" charset="0"/>
                <a:ea typeface="Calibri" pitchFamily="34" charset="-122"/>
                <a:cs typeface="Calibri" pitchFamily="34" charset="-120"/>
              </a:rPr>
              <a:t>new things rather </a:t>
            </a:r>
            <a:r>
              <a:rPr lang="en-US" sz="1350" dirty="0">
                <a:solidFill>
                  <a:srgbClr val="1B2E30"/>
                </a:solidFill>
                <a:latin typeface="Calibri" pitchFamily="34" charset="0"/>
                <a:ea typeface="Calibri" pitchFamily="34" charset="-122"/>
                <a:cs typeface="Calibri" pitchFamily="34" charset="-120"/>
              </a:rPr>
              <a:t>than</a:t>
            </a:r>
            <a:r>
              <a:rPr lang="yo-NG" sz="1350" dirty="0">
                <a:solidFill>
                  <a:srgbClr val="1B2E30"/>
                </a:solidFill>
                <a:latin typeface="Calibri" pitchFamily="34" charset="0"/>
                <a:ea typeface="Calibri" pitchFamily="34" charset="-122"/>
                <a:cs typeface="Calibri" pitchFamily="34" charset="-120"/>
              </a:rPr>
              <a:t> implementing the ones I know or </a:t>
            </a:r>
            <a:r>
              <a:rPr lang="en-US" sz="1350" dirty="0">
                <a:solidFill>
                  <a:srgbClr val="1B2E30"/>
                </a:solidFill>
                <a:latin typeface="Calibri" pitchFamily="34" charset="0"/>
                <a:ea typeface="Calibri" pitchFamily="34" charset="-122"/>
                <a:cs typeface="Calibri" pitchFamily="34" charset="-120"/>
              </a:rPr>
              <a:t>giving back by teaching or sharing my knowledge</a:t>
            </a:r>
            <a:r>
              <a:rPr lang="yo-NG" sz="1350" dirty="0">
                <a:solidFill>
                  <a:srgbClr val="1B2E30"/>
                </a:solidFill>
                <a:latin typeface="Calibri" pitchFamily="34" charset="0"/>
                <a:ea typeface="Calibri" pitchFamily="34" charset="-122"/>
                <a:cs typeface="Calibri" pitchFamily="34" charset="-120"/>
              </a:rPr>
              <a:t> with who may need it.</a:t>
            </a:r>
            <a:endParaRPr lang="en-US" sz="1350" dirty="0"/>
          </a:p>
        </p:txBody>
      </p:sp>
      <p:sp>
        <p:nvSpPr>
          <p:cNvPr id="28" name="Text 26"/>
          <p:cNvSpPr/>
          <p:nvPr/>
        </p:nvSpPr>
        <p:spPr>
          <a:xfrm>
            <a:off x="11521440" y="6446520"/>
            <a:ext cx="457200" cy="320040"/>
          </a:xfrm>
          <a:prstGeom prst="rect">
            <a:avLst/>
          </a:prstGeom>
          <a:noFill/>
          <a:ln/>
        </p:spPr>
        <p:txBody>
          <a:bodyPr wrap="square" rtlCol="0" anchor="ctr"/>
          <a:lstStyle/>
          <a:p>
            <a:pPr marL="0" indent="0" algn="r">
              <a:buNone/>
            </a:pPr>
            <a:r>
              <a:rPr lang="en-US" sz="1000" dirty="0">
                <a:solidFill>
                  <a:srgbClr val="5C6B6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502920"/>
          </a:xfrm>
          <a:prstGeom prst="rect">
            <a:avLst/>
          </a:prstGeom>
          <a:noFill/>
          <a:ln/>
        </p:spPr>
        <p:txBody>
          <a:bodyPr wrap="square" rtlCol="0" anchor="ctr"/>
          <a:lstStyle/>
          <a:p>
            <a:pPr marL="0" indent="0">
              <a:buNone/>
            </a:pPr>
            <a:r>
              <a:rPr lang="en-US" sz="2600" b="1" dirty="0">
                <a:solidFill>
                  <a:srgbClr val="1B2E30"/>
                </a:solidFill>
                <a:latin typeface="Cambria" pitchFamily="34" charset="0"/>
                <a:ea typeface="Cambria" pitchFamily="34" charset="-122"/>
                <a:cs typeface="Cambria" pitchFamily="34" charset="-120"/>
              </a:rPr>
              <a:t>Lessons That Hit Me Personally</a:t>
            </a:r>
            <a:endParaRPr lang="en-US" sz="2600" dirty="0"/>
          </a:p>
        </p:txBody>
      </p:sp>
      <p:sp>
        <p:nvSpPr>
          <p:cNvPr id="3" name="Text 1"/>
          <p:cNvSpPr/>
          <p:nvPr/>
        </p:nvSpPr>
        <p:spPr>
          <a:xfrm>
            <a:off x="548640" y="868680"/>
            <a:ext cx="10972800" cy="365760"/>
          </a:xfrm>
          <a:prstGeom prst="rect">
            <a:avLst/>
          </a:prstGeom>
          <a:noFill/>
          <a:ln/>
        </p:spPr>
        <p:txBody>
          <a:bodyPr wrap="square" rtlCol="0" anchor="ctr"/>
          <a:lstStyle/>
          <a:p>
            <a:pPr marL="0" indent="0">
              <a:buNone/>
            </a:pPr>
            <a:r>
              <a:rPr lang="en-US" sz="1300" i="1" dirty="0">
                <a:solidFill>
                  <a:srgbClr val="5C6B6C"/>
                </a:solidFill>
                <a:latin typeface="Calibri" pitchFamily="34" charset="0"/>
                <a:ea typeface="Calibri" pitchFamily="34" charset="-122"/>
                <a:cs typeface="Calibri" pitchFamily="34" charset="-120"/>
              </a:rPr>
              <a:t>Every lesson from the video resonated, but a few stood out the most:</a:t>
            </a:r>
            <a:endParaRPr lang="en-US" sz="1300" dirty="0"/>
          </a:p>
        </p:txBody>
      </p:sp>
      <p:sp>
        <p:nvSpPr>
          <p:cNvPr id="4" name="Shape 2"/>
          <p:cNvSpPr/>
          <p:nvPr/>
        </p:nvSpPr>
        <p:spPr>
          <a:xfrm>
            <a:off x="548640" y="1393275"/>
            <a:ext cx="3593592" cy="4424187"/>
          </a:xfrm>
          <a:prstGeom prst="roundRect">
            <a:avLst>
              <a:gd name="adj" fmla="val 4103"/>
            </a:avLst>
          </a:prstGeom>
          <a:solidFill>
            <a:srgbClr val="F4FAF9"/>
          </a:solidFill>
          <a:ln/>
        </p:spPr>
      </p:sp>
      <p:sp>
        <p:nvSpPr>
          <p:cNvPr id="5" name="Shape 3"/>
          <p:cNvSpPr/>
          <p:nvPr/>
        </p:nvSpPr>
        <p:spPr>
          <a:xfrm>
            <a:off x="777240" y="1645920"/>
            <a:ext cx="502920" cy="502920"/>
          </a:xfrm>
          <a:prstGeom prst="ellipse">
            <a:avLst/>
          </a:prstGeom>
          <a:solidFill>
            <a:srgbClr val="028090"/>
          </a:solidFill>
          <a:ln/>
        </p:spPr>
      </p:sp>
      <p:sp>
        <p:nvSpPr>
          <p:cNvPr id="6" name="Text 4"/>
          <p:cNvSpPr/>
          <p:nvPr/>
        </p:nvSpPr>
        <p:spPr>
          <a:xfrm>
            <a:off x="777240" y="164592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777240" y="2240280"/>
            <a:ext cx="3136392" cy="411480"/>
          </a:xfrm>
          <a:prstGeom prst="rect">
            <a:avLst/>
          </a:prstGeom>
          <a:noFill/>
          <a:ln/>
        </p:spPr>
        <p:txBody>
          <a:bodyPr wrap="square" rtlCol="0" anchor="ctr"/>
          <a:lstStyle/>
          <a:p>
            <a:pPr marL="0" indent="0">
              <a:lnSpc>
                <a:spcPct val="110000"/>
              </a:lnSpc>
              <a:buNone/>
            </a:pPr>
            <a:r>
              <a:rPr lang="en-US" sz="1350" b="1" dirty="0">
                <a:solidFill>
                  <a:srgbClr val="1B2E30"/>
                </a:solidFill>
                <a:latin typeface="Cambria" pitchFamily="34" charset="0"/>
                <a:ea typeface="Cambria" pitchFamily="34" charset="-122"/>
                <a:cs typeface="Cambria" pitchFamily="34" charset="-120"/>
              </a:rPr>
              <a:t>Do</a:t>
            </a:r>
            <a:r>
              <a:rPr lang="yo-NG" sz="1350" b="1" dirty="0">
                <a:solidFill>
                  <a:srgbClr val="1B2E30"/>
                </a:solidFill>
                <a:latin typeface="Cambria" pitchFamily="34" charset="0"/>
                <a:ea typeface="Cambria" pitchFamily="34" charset="-122"/>
                <a:cs typeface="Cambria" pitchFamily="34" charset="-120"/>
              </a:rPr>
              <a:t>ing Things </a:t>
            </a:r>
            <a:r>
              <a:rPr lang="en-US" sz="1350" b="1" dirty="0">
                <a:solidFill>
                  <a:srgbClr val="1B2E30"/>
                </a:solidFill>
                <a:latin typeface="Cambria" pitchFamily="34" charset="0"/>
                <a:ea typeface="Cambria" pitchFamily="34" charset="-122"/>
                <a:cs typeface="Cambria" pitchFamily="34" charset="-120"/>
              </a:rPr>
              <a:t>Well</a:t>
            </a:r>
            <a:endParaRPr lang="en-US" sz="1350" dirty="0"/>
          </a:p>
        </p:txBody>
      </p:sp>
      <p:sp>
        <p:nvSpPr>
          <p:cNvPr id="8" name="Text 6"/>
          <p:cNvSpPr/>
          <p:nvPr/>
        </p:nvSpPr>
        <p:spPr>
          <a:xfrm>
            <a:off x="777240" y="2624328"/>
            <a:ext cx="3136392" cy="2473452"/>
          </a:xfrm>
          <a:prstGeom prst="rect">
            <a:avLst/>
          </a:prstGeom>
          <a:noFill/>
          <a:ln/>
        </p:spPr>
        <p:txBody>
          <a:bodyPr wrap="square" rtlCol="0" anchor="ctr"/>
          <a:lstStyle/>
          <a:p>
            <a:pPr marL="0" indent="0">
              <a:lnSpc>
                <a:spcPct val="115000"/>
              </a:lnSpc>
              <a:buNone/>
            </a:pPr>
            <a:r>
              <a:rPr lang="yo-NG" sz="1200" dirty="0">
                <a:solidFill>
                  <a:srgbClr val="5C6B6C"/>
                </a:solidFill>
                <a:latin typeface="Calibri" pitchFamily="34" charset="0"/>
                <a:ea typeface="Calibri" pitchFamily="34" charset="-122"/>
                <a:cs typeface="Calibri" pitchFamily="34" charset="-120"/>
              </a:rPr>
              <a:t>This reminded of the sentence that says “whatever is worth doing is worth doing well”. Whatever you choose to do should not be done merely for the sake of doing it. Instead, do it wholeheartedly, with intention, and with a clear understanding of the value or reward you hope to gain. Just as some of us join classes simply for the sake of joining, we should instead participate with purpose and strive to get the best out of every opportunity.</a:t>
            </a:r>
            <a:endParaRPr lang="en-US" sz="1200" dirty="0"/>
          </a:p>
        </p:txBody>
      </p:sp>
      <p:sp>
        <p:nvSpPr>
          <p:cNvPr id="9" name="Shape 7"/>
          <p:cNvSpPr/>
          <p:nvPr/>
        </p:nvSpPr>
        <p:spPr>
          <a:xfrm>
            <a:off x="4325112" y="1417320"/>
            <a:ext cx="3593592" cy="1783080"/>
          </a:xfrm>
          <a:prstGeom prst="roundRect">
            <a:avLst>
              <a:gd name="adj" fmla="val 4103"/>
            </a:avLst>
          </a:prstGeom>
          <a:solidFill>
            <a:srgbClr val="F4FAF9"/>
          </a:solidFill>
          <a:ln/>
        </p:spPr>
        <p:txBody>
          <a:bodyPr/>
          <a:lstStyle/>
          <a:p>
            <a:endParaRPr lang="en-US" dirty="0"/>
          </a:p>
        </p:txBody>
      </p:sp>
      <p:sp>
        <p:nvSpPr>
          <p:cNvPr id="10" name="Shape 8"/>
          <p:cNvSpPr/>
          <p:nvPr/>
        </p:nvSpPr>
        <p:spPr>
          <a:xfrm>
            <a:off x="4553712" y="1645920"/>
            <a:ext cx="502920" cy="502920"/>
          </a:xfrm>
          <a:prstGeom prst="ellipse">
            <a:avLst/>
          </a:prstGeom>
          <a:solidFill>
            <a:srgbClr val="028090"/>
          </a:solidFill>
          <a:ln/>
        </p:spPr>
      </p:sp>
      <p:sp>
        <p:nvSpPr>
          <p:cNvPr id="11" name="Text 9"/>
          <p:cNvSpPr/>
          <p:nvPr/>
        </p:nvSpPr>
        <p:spPr>
          <a:xfrm>
            <a:off x="4553712" y="164592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4553712" y="2240280"/>
            <a:ext cx="3136392" cy="411480"/>
          </a:xfrm>
          <a:prstGeom prst="rect">
            <a:avLst/>
          </a:prstGeom>
          <a:noFill/>
          <a:ln/>
        </p:spPr>
        <p:txBody>
          <a:bodyPr wrap="square" rtlCol="0" anchor="ctr"/>
          <a:lstStyle/>
          <a:p>
            <a:pPr marL="0" indent="0">
              <a:lnSpc>
                <a:spcPct val="110000"/>
              </a:lnSpc>
              <a:buNone/>
            </a:pPr>
            <a:r>
              <a:rPr lang="en-US" sz="1350" b="1" dirty="0">
                <a:solidFill>
                  <a:srgbClr val="1B2E30"/>
                </a:solidFill>
                <a:latin typeface="Cambria" pitchFamily="34" charset="0"/>
                <a:ea typeface="Cambria" pitchFamily="34" charset="-122"/>
                <a:cs typeface="Cambria" pitchFamily="34" charset="-120"/>
              </a:rPr>
              <a:t>Don't Limit Yourself</a:t>
            </a:r>
            <a:endParaRPr lang="en-US" sz="1350" dirty="0"/>
          </a:p>
        </p:txBody>
      </p:sp>
      <p:sp>
        <p:nvSpPr>
          <p:cNvPr id="13" name="Text 11"/>
          <p:cNvSpPr/>
          <p:nvPr/>
        </p:nvSpPr>
        <p:spPr>
          <a:xfrm>
            <a:off x="4553712" y="2624328"/>
            <a:ext cx="3136392" cy="530352"/>
          </a:xfrm>
          <a:prstGeom prst="rect">
            <a:avLst/>
          </a:prstGeom>
          <a:noFill/>
          <a:ln/>
        </p:spPr>
        <p:txBody>
          <a:bodyPr wrap="square" rtlCol="0" anchor="ctr"/>
          <a:lstStyle/>
          <a:p>
            <a:pPr marL="0" indent="0">
              <a:lnSpc>
                <a:spcPct val="115000"/>
              </a:lnSpc>
              <a:buNone/>
            </a:pPr>
            <a:r>
              <a:rPr lang="yo-NG" sz="1050" dirty="0">
                <a:solidFill>
                  <a:srgbClr val="5C6B6C"/>
                </a:solidFill>
                <a:latin typeface="Calibri" pitchFamily="34" charset="0"/>
                <a:ea typeface="Calibri" pitchFamily="34" charset="-122"/>
                <a:cs typeface="Calibri" pitchFamily="34" charset="-120"/>
              </a:rPr>
              <a:t>Our b</a:t>
            </a:r>
            <a:r>
              <a:rPr lang="en-US" sz="1050" dirty="0">
                <a:solidFill>
                  <a:srgbClr val="5C6B6C"/>
                </a:solidFill>
                <a:latin typeface="Calibri" pitchFamily="34" charset="0"/>
                <a:ea typeface="Calibri" pitchFamily="34" charset="-122"/>
                <a:cs typeface="Calibri" pitchFamily="34" charset="-120"/>
              </a:rPr>
              <a:t>rains keep adapting and growing as we keep challenging ourselves and learning</a:t>
            </a:r>
            <a:r>
              <a:rPr lang="yo-NG" sz="1050" dirty="0">
                <a:solidFill>
                  <a:srgbClr val="5C6B6C"/>
                </a:solidFill>
                <a:latin typeface="Calibri" pitchFamily="34" charset="0"/>
                <a:ea typeface="Calibri" pitchFamily="34" charset="-122"/>
                <a:cs typeface="Calibri" pitchFamily="34" charset="-120"/>
              </a:rPr>
              <a:t>, which explained the concept neuroplasticity emphasized in the video.</a:t>
            </a:r>
            <a:endParaRPr lang="en-US" sz="1050" dirty="0"/>
          </a:p>
        </p:txBody>
      </p:sp>
      <p:sp>
        <p:nvSpPr>
          <p:cNvPr id="14" name="Shape 12"/>
          <p:cNvSpPr/>
          <p:nvPr/>
        </p:nvSpPr>
        <p:spPr>
          <a:xfrm>
            <a:off x="8101584" y="1417320"/>
            <a:ext cx="3593592" cy="1783080"/>
          </a:xfrm>
          <a:prstGeom prst="roundRect">
            <a:avLst>
              <a:gd name="adj" fmla="val 4103"/>
            </a:avLst>
          </a:prstGeom>
          <a:solidFill>
            <a:srgbClr val="F4FAF9"/>
          </a:solidFill>
          <a:ln/>
        </p:spPr>
      </p:sp>
      <p:sp>
        <p:nvSpPr>
          <p:cNvPr id="15" name="Shape 13"/>
          <p:cNvSpPr/>
          <p:nvPr/>
        </p:nvSpPr>
        <p:spPr>
          <a:xfrm>
            <a:off x="8330184" y="1645920"/>
            <a:ext cx="502920" cy="502920"/>
          </a:xfrm>
          <a:prstGeom prst="ellipse">
            <a:avLst/>
          </a:prstGeom>
          <a:solidFill>
            <a:srgbClr val="028090"/>
          </a:solidFill>
          <a:ln/>
        </p:spPr>
      </p:sp>
      <p:sp>
        <p:nvSpPr>
          <p:cNvPr id="16" name="Text 14"/>
          <p:cNvSpPr/>
          <p:nvPr/>
        </p:nvSpPr>
        <p:spPr>
          <a:xfrm>
            <a:off x="8330184" y="164592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8330184" y="2240280"/>
            <a:ext cx="3136392" cy="411480"/>
          </a:xfrm>
          <a:prstGeom prst="rect">
            <a:avLst/>
          </a:prstGeom>
          <a:noFill/>
          <a:ln/>
        </p:spPr>
        <p:txBody>
          <a:bodyPr wrap="square" rtlCol="0" anchor="ctr"/>
          <a:lstStyle/>
          <a:p>
            <a:pPr marL="0" indent="0">
              <a:lnSpc>
                <a:spcPct val="110000"/>
              </a:lnSpc>
              <a:buNone/>
            </a:pPr>
            <a:r>
              <a:rPr lang="yo-NG" sz="1350" b="1" dirty="0">
                <a:solidFill>
                  <a:srgbClr val="1B2E30"/>
                </a:solidFill>
                <a:latin typeface="Cambria" pitchFamily="34" charset="0"/>
                <a:ea typeface="Cambria" pitchFamily="34" charset="-122"/>
                <a:cs typeface="Cambria" pitchFamily="34" charset="-120"/>
              </a:rPr>
              <a:t>Hard work, </a:t>
            </a:r>
            <a:r>
              <a:rPr lang="en-US" sz="1350" b="1" dirty="0">
                <a:solidFill>
                  <a:srgbClr val="1B2E30"/>
                </a:solidFill>
                <a:latin typeface="Cambria" pitchFamily="34" charset="0"/>
                <a:ea typeface="Cambria" pitchFamily="34" charset="-122"/>
                <a:cs typeface="Cambria" pitchFamily="34" charset="-120"/>
              </a:rPr>
              <a:t>Discipline &amp; Deferred Gratification</a:t>
            </a:r>
            <a:endParaRPr lang="en-US" sz="1350" dirty="0"/>
          </a:p>
        </p:txBody>
      </p:sp>
      <p:sp>
        <p:nvSpPr>
          <p:cNvPr id="18" name="Text 16"/>
          <p:cNvSpPr/>
          <p:nvPr/>
        </p:nvSpPr>
        <p:spPr>
          <a:xfrm>
            <a:off x="8330184" y="2624328"/>
            <a:ext cx="3136392" cy="530352"/>
          </a:xfrm>
          <a:prstGeom prst="rect">
            <a:avLst/>
          </a:prstGeom>
          <a:noFill/>
          <a:ln/>
        </p:spPr>
        <p:txBody>
          <a:bodyPr wrap="square" rtlCol="0" anchor="ctr"/>
          <a:lstStyle/>
          <a:p>
            <a:pPr marL="0" indent="0">
              <a:lnSpc>
                <a:spcPct val="115000"/>
              </a:lnSpc>
              <a:buNone/>
            </a:pPr>
            <a:r>
              <a:rPr lang="en-US" sz="1050" dirty="0">
                <a:solidFill>
                  <a:srgbClr val="5C6B6C"/>
                </a:solidFill>
                <a:latin typeface="Calibri" pitchFamily="34" charset="0"/>
                <a:ea typeface="Calibri" pitchFamily="34" charset="-122"/>
                <a:cs typeface="Calibri" pitchFamily="34" charset="-120"/>
              </a:rPr>
              <a:t>Great achievements rarely happen overnight or by luck </a:t>
            </a:r>
            <a:r>
              <a:rPr lang="yo-NG" sz="1050" dirty="0">
                <a:solidFill>
                  <a:srgbClr val="5C6B6C"/>
                </a:solidFill>
                <a:latin typeface="Calibri" pitchFamily="34" charset="0"/>
                <a:ea typeface="Calibri" pitchFamily="34" charset="-122"/>
                <a:cs typeface="Calibri" pitchFamily="34" charset="-120"/>
              </a:rPr>
              <a:t>, t</a:t>
            </a:r>
            <a:r>
              <a:rPr lang="en-US" sz="1050" dirty="0">
                <a:solidFill>
                  <a:srgbClr val="5C6B6C"/>
                </a:solidFill>
                <a:latin typeface="Calibri" pitchFamily="34" charset="0"/>
                <a:ea typeface="Calibri" pitchFamily="34" charset="-122"/>
                <a:cs typeface="Calibri" pitchFamily="34" charset="-120"/>
              </a:rPr>
              <a:t>hey require consistency, sacrifice, and patience.</a:t>
            </a:r>
            <a:endParaRPr lang="en-US" sz="1050" dirty="0"/>
          </a:p>
        </p:txBody>
      </p:sp>
      <p:sp>
        <p:nvSpPr>
          <p:cNvPr id="19" name="Shape 17"/>
          <p:cNvSpPr/>
          <p:nvPr/>
        </p:nvSpPr>
        <p:spPr>
          <a:xfrm>
            <a:off x="4325112" y="3417976"/>
            <a:ext cx="3593592" cy="2399487"/>
          </a:xfrm>
          <a:prstGeom prst="roundRect">
            <a:avLst>
              <a:gd name="adj" fmla="val 4103"/>
            </a:avLst>
          </a:prstGeom>
          <a:solidFill>
            <a:srgbClr val="F4FAF9"/>
          </a:solidFill>
          <a:ln/>
        </p:spPr>
      </p:sp>
      <p:sp>
        <p:nvSpPr>
          <p:cNvPr id="20" name="Shape 18"/>
          <p:cNvSpPr/>
          <p:nvPr/>
        </p:nvSpPr>
        <p:spPr>
          <a:xfrm>
            <a:off x="4537611" y="3321495"/>
            <a:ext cx="502920" cy="502920"/>
          </a:xfrm>
          <a:prstGeom prst="ellipse">
            <a:avLst/>
          </a:prstGeom>
          <a:solidFill>
            <a:srgbClr val="028090"/>
          </a:solidFill>
          <a:ln/>
        </p:spPr>
      </p:sp>
      <p:sp>
        <p:nvSpPr>
          <p:cNvPr id="21" name="Text 19"/>
          <p:cNvSpPr/>
          <p:nvPr/>
        </p:nvSpPr>
        <p:spPr>
          <a:xfrm>
            <a:off x="4553712" y="3321495"/>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7" name="Text 25"/>
          <p:cNvSpPr/>
          <p:nvPr/>
        </p:nvSpPr>
        <p:spPr>
          <a:xfrm>
            <a:off x="4585915" y="3920896"/>
            <a:ext cx="3136392" cy="411480"/>
          </a:xfrm>
          <a:prstGeom prst="rect">
            <a:avLst/>
          </a:prstGeom>
          <a:noFill/>
          <a:ln/>
        </p:spPr>
        <p:txBody>
          <a:bodyPr wrap="square" rtlCol="0" anchor="ctr"/>
          <a:lstStyle/>
          <a:p>
            <a:pPr marL="0" indent="0">
              <a:lnSpc>
                <a:spcPct val="110000"/>
              </a:lnSpc>
              <a:buNone/>
            </a:pPr>
            <a:r>
              <a:rPr lang="en-US" sz="1350" b="1" dirty="0">
                <a:solidFill>
                  <a:srgbClr val="1B2E30"/>
                </a:solidFill>
                <a:latin typeface="Cambria" pitchFamily="34" charset="0"/>
                <a:ea typeface="Cambria" pitchFamily="34" charset="-122"/>
                <a:cs typeface="Cambria" pitchFamily="34" charset="-120"/>
              </a:rPr>
              <a:t>Time</a:t>
            </a:r>
            <a:r>
              <a:rPr lang="yo-NG" sz="1350" b="1" dirty="0">
                <a:solidFill>
                  <a:srgbClr val="1B2E30"/>
                </a:solidFill>
                <a:latin typeface="Cambria" pitchFamily="34" charset="0"/>
                <a:ea typeface="Cambria" pitchFamily="34" charset="-122"/>
                <a:cs typeface="Cambria" pitchFamily="34" charset="-120"/>
              </a:rPr>
              <a:t> Management </a:t>
            </a:r>
            <a:endParaRPr lang="en-US" sz="1350" dirty="0"/>
          </a:p>
        </p:txBody>
      </p:sp>
      <p:sp>
        <p:nvSpPr>
          <p:cNvPr id="28" name="Text 26"/>
          <p:cNvSpPr/>
          <p:nvPr/>
        </p:nvSpPr>
        <p:spPr>
          <a:xfrm>
            <a:off x="4553712" y="4084422"/>
            <a:ext cx="3136392" cy="1524354"/>
          </a:xfrm>
          <a:prstGeom prst="rect">
            <a:avLst/>
          </a:prstGeom>
          <a:noFill/>
          <a:ln/>
        </p:spPr>
        <p:txBody>
          <a:bodyPr wrap="square" rtlCol="0" anchor="ctr"/>
          <a:lstStyle/>
          <a:p>
            <a:pPr marL="0" indent="0">
              <a:lnSpc>
                <a:spcPct val="115000"/>
              </a:lnSpc>
              <a:buNone/>
            </a:pPr>
            <a:r>
              <a:rPr lang="en-US" sz="1050" dirty="0">
                <a:solidFill>
                  <a:srgbClr val="5C6B6C"/>
                </a:solidFill>
                <a:latin typeface="Calibri" pitchFamily="34" charset="0"/>
                <a:ea typeface="Calibri" pitchFamily="34" charset="-122"/>
                <a:cs typeface="Calibri" pitchFamily="34" charset="-120"/>
              </a:rPr>
              <a:t>Effective time management is not about having more time; it is about making better use of the time I already have.</a:t>
            </a:r>
            <a:r>
              <a:rPr lang="yo-NG" sz="1050" dirty="0">
                <a:solidFill>
                  <a:srgbClr val="5C6B6C"/>
                </a:solidFill>
                <a:latin typeface="Calibri" pitchFamily="34" charset="0"/>
                <a:ea typeface="Calibri" pitchFamily="34" charset="-122"/>
                <a:cs typeface="Calibri" pitchFamily="34" charset="-120"/>
              </a:rPr>
              <a:t> This occur in scenario when we tend to leave classes or not doing assignments in the name of I don’t have time but we tend to spend time in some unnecessary things.</a:t>
            </a:r>
            <a:endParaRPr lang="en-US" sz="1050" dirty="0"/>
          </a:p>
        </p:txBody>
      </p:sp>
      <p:sp>
        <p:nvSpPr>
          <p:cNvPr id="29" name="Text 27"/>
          <p:cNvSpPr/>
          <p:nvPr/>
        </p:nvSpPr>
        <p:spPr>
          <a:xfrm>
            <a:off x="11521440" y="6446520"/>
            <a:ext cx="457200" cy="320040"/>
          </a:xfrm>
          <a:prstGeom prst="rect">
            <a:avLst/>
          </a:prstGeom>
          <a:noFill/>
          <a:ln/>
        </p:spPr>
        <p:txBody>
          <a:bodyPr wrap="square" rtlCol="0" anchor="ctr"/>
          <a:lstStyle/>
          <a:p>
            <a:pPr marL="0" indent="0" algn="r">
              <a:buNone/>
            </a:pPr>
            <a:r>
              <a:rPr lang="en-US" sz="1000" dirty="0">
                <a:solidFill>
                  <a:srgbClr val="5C6B6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AF9"/>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2600" b="1" dirty="0">
                <a:solidFill>
                  <a:srgbClr val="1B2E30"/>
                </a:solidFill>
                <a:latin typeface="Cambria" pitchFamily="34" charset="0"/>
                <a:ea typeface="Cambria" pitchFamily="34" charset="-122"/>
                <a:cs typeface="Cambria" pitchFamily="34" charset="-120"/>
              </a:rPr>
              <a:t>Key Takeaways I W</a:t>
            </a:r>
            <a:r>
              <a:rPr lang="yo-NG" sz="2600" b="1" dirty="0">
                <a:solidFill>
                  <a:srgbClr val="1B2E30"/>
                </a:solidFill>
                <a:latin typeface="Cambria" pitchFamily="34" charset="0"/>
                <a:ea typeface="Cambria" pitchFamily="34" charset="-122"/>
                <a:cs typeface="Cambria" pitchFamily="34" charset="-120"/>
              </a:rPr>
              <a:t>ould like to </a:t>
            </a:r>
            <a:r>
              <a:rPr lang="en-US" sz="2600" b="1" dirty="0">
                <a:solidFill>
                  <a:srgbClr val="1B2E30"/>
                </a:solidFill>
                <a:latin typeface="Cambria" pitchFamily="34" charset="0"/>
                <a:ea typeface="Cambria" pitchFamily="34" charset="-122"/>
                <a:cs typeface="Cambria" pitchFamily="34" charset="-120"/>
              </a:rPr>
              <a:t>Incorporate Into My Daily Life</a:t>
            </a:r>
            <a:endParaRPr lang="en-US" sz="2600" dirty="0"/>
          </a:p>
        </p:txBody>
      </p:sp>
      <p:sp>
        <p:nvSpPr>
          <p:cNvPr id="3" name="Text 1"/>
          <p:cNvSpPr/>
          <p:nvPr/>
        </p:nvSpPr>
        <p:spPr>
          <a:xfrm>
            <a:off x="548640" y="1051560"/>
            <a:ext cx="10972800" cy="365760"/>
          </a:xfrm>
          <a:prstGeom prst="rect">
            <a:avLst/>
          </a:prstGeom>
          <a:noFill/>
          <a:ln/>
        </p:spPr>
        <p:txBody>
          <a:bodyPr wrap="square" rtlCol="0" anchor="ctr"/>
          <a:lstStyle/>
          <a:p>
            <a:pPr marL="0" indent="0">
              <a:buNone/>
            </a:pPr>
            <a:r>
              <a:rPr lang="en-US" sz="1400" i="1" dirty="0">
                <a:solidFill>
                  <a:srgbClr val="5C6B6C"/>
                </a:solidFill>
                <a:latin typeface="Calibri" pitchFamily="34" charset="0"/>
                <a:ea typeface="Calibri" pitchFamily="34" charset="-122"/>
                <a:cs typeface="Calibri" pitchFamily="34" charset="-120"/>
              </a:rPr>
              <a:t>From today onward, I want to intentionally practice the following:</a:t>
            </a:r>
            <a:endParaRPr lang="en-US" sz="1400" dirty="0"/>
          </a:p>
        </p:txBody>
      </p:sp>
      <p:sp>
        <p:nvSpPr>
          <p:cNvPr id="4" name="Shape 2"/>
          <p:cNvSpPr/>
          <p:nvPr/>
        </p:nvSpPr>
        <p:spPr>
          <a:xfrm>
            <a:off x="548640" y="1645920"/>
            <a:ext cx="3593592" cy="1600200"/>
          </a:xfrm>
          <a:prstGeom prst="roundRect">
            <a:avLst>
              <a:gd name="adj" fmla="val 4571"/>
            </a:avLst>
          </a:prstGeom>
          <a:solidFill>
            <a:srgbClr val="FFFFFF"/>
          </a:solidFill>
          <a:ln w="12700">
            <a:solidFill>
              <a:srgbClr val="DCEFEC"/>
            </a:solidFill>
            <a:prstDash val="solid"/>
          </a:ln>
          <a:effectLst>
            <a:outerShdw blurRad="63500" dist="25400" dir="5400000" algn="bl" rotWithShape="0">
              <a:srgbClr val="808080">
                <a:alpha val="20000"/>
              </a:srgbClr>
            </a:outerShdw>
          </a:effectLst>
        </p:spPr>
      </p:sp>
      <p:sp>
        <p:nvSpPr>
          <p:cNvPr id="5" name="Shape 3"/>
          <p:cNvSpPr/>
          <p:nvPr/>
        </p:nvSpPr>
        <p:spPr>
          <a:xfrm>
            <a:off x="777240" y="1874520"/>
            <a:ext cx="502920" cy="502920"/>
          </a:xfrm>
          <a:prstGeom prst="ellipse">
            <a:avLst/>
          </a:prstGeom>
          <a:solidFill>
            <a:srgbClr val="02C39A"/>
          </a:solidFill>
          <a:ln/>
        </p:spPr>
      </p:sp>
      <p:sp>
        <p:nvSpPr>
          <p:cNvPr id="6" name="Text 4"/>
          <p:cNvSpPr/>
          <p:nvPr/>
        </p:nvSpPr>
        <p:spPr>
          <a:xfrm>
            <a:off x="777240" y="187452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777240" y="2514600"/>
            <a:ext cx="3136392" cy="640080"/>
          </a:xfrm>
          <a:prstGeom prst="rect">
            <a:avLst/>
          </a:prstGeom>
          <a:noFill/>
          <a:ln/>
        </p:spPr>
        <p:txBody>
          <a:bodyPr wrap="square" rtlCol="0" anchor="ctr"/>
          <a:lstStyle/>
          <a:p>
            <a:pPr marL="0" indent="0">
              <a:lnSpc>
                <a:spcPct val="115000"/>
              </a:lnSpc>
              <a:buNone/>
            </a:pPr>
            <a:r>
              <a:rPr lang="en-US" sz="1300" b="1" dirty="0">
                <a:solidFill>
                  <a:srgbClr val="1B2E30"/>
                </a:solidFill>
                <a:latin typeface="Calibri" pitchFamily="34" charset="0"/>
                <a:ea typeface="Calibri" pitchFamily="34" charset="-122"/>
                <a:cs typeface="Calibri" pitchFamily="34" charset="-120"/>
              </a:rPr>
              <a:t>Serve people wholeheartedly</a:t>
            </a:r>
            <a:endParaRPr lang="en-US" sz="1300" dirty="0"/>
          </a:p>
        </p:txBody>
      </p:sp>
      <p:sp>
        <p:nvSpPr>
          <p:cNvPr id="8" name="Shape 6"/>
          <p:cNvSpPr/>
          <p:nvPr/>
        </p:nvSpPr>
        <p:spPr>
          <a:xfrm>
            <a:off x="4325112" y="1645920"/>
            <a:ext cx="3593592" cy="1600200"/>
          </a:xfrm>
          <a:prstGeom prst="roundRect">
            <a:avLst>
              <a:gd name="adj" fmla="val 4571"/>
            </a:avLst>
          </a:prstGeom>
          <a:solidFill>
            <a:srgbClr val="FFFFFF"/>
          </a:solidFill>
          <a:ln w="12700">
            <a:solidFill>
              <a:srgbClr val="DCEFEC"/>
            </a:solidFill>
            <a:prstDash val="solid"/>
          </a:ln>
          <a:effectLst>
            <a:outerShdw blurRad="63500" dist="25400" dir="5400000" algn="bl" rotWithShape="0">
              <a:srgbClr val="808080">
                <a:alpha val="20000"/>
              </a:srgbClr>
            </a:outerShdw>
          </a:effectLst>
        </p:spPr>
      </p:sp>
      <p:sp>
        <p:nvSpPr>
          <p:cNvPr id="9" name="Shape 7"/>
          <p:cNvSpPr/>
          <p:nvPr/>
        </p:nvSpPr>
        <p:spPr>
          <a:xfrm>
            <a:off x="4553712" y="1874520"/>
            <a:ext cx="502920" cy="502920"/>
          </a:xfrm>
          <a:prstGeom prst="ellipse">
            <a:avLst/>
          </a:prstGeom>
          <a:solidFill>
            <a:srgbClr val="02C39A"/>
          </a:solidFill>
          <a:ln/>
        </p:spPr>
      </p:sp>
      <p:sp>
        <p:nvSpPr>
          <p:cNvPr id="10" name="Text 8"/>
          <p:cNvSpPr/>
          <p:nvPr/>
        </p:nvSpPr>
        <p:spPr>
          <a:xfrm>
            <a:off x="4553712" y="187452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4553712" y="2514600"/>
            <a:ext cx="3136392" cy="640080"/>
          </a:xfrm>
          <a:prstGeom prst="rect">
            <a:avLst/>
          </a:prstGeom>
          <a:noFill/>
          <a:ln/>
        </p:spPr>
        <p:txBody>
          <a:bodyPr wrap="square" rtlCol="0" anchor="ctr"/>
          <a:lstStyle/>
          <a:p>
            <a:pPr marL="0" indent="0">
              <a:lnSpc>
                <a:spcPct val="115000"/>
              </a:lnSpc>
              <a:buNone/>
            </a:pPr>
            <a:r>
              <a:rPr lang="en-US" sz="1300" b="1" dirty="0">
                <a:solidFill>
                  <a:srgbClr val="1B2E30"/>
                </a:solidFill>
                <a:latin typeface="Calibri" pitchFamily="34" charset="0"/>
                <a:ea typeface="Calibri" pitchFamily="34" charset="-122"/>
                <a:cs typeface="Calibri" pitchFamily="34" charset="-120"/>
              </a:rPr>
              <a:t>Under-promise and over-deliver</a:t>
            </a:r>
            <a:endParaRPr lang="en-US" sz="1300" dirty="0"/>
          </a:p>
        </p:txBody>
      </p:sp>
      <p:sp>
        <p:nvSpPr>
          <p:cNvPr id="12" name="Shape 10"/>
          <p:cNvSpPr/>
          <p:nvPr/>
        </p:nvSpPr>
        <p:spPr>
          <a:xfrm>
            <a:off x="8101584" y="1645920"/>
            <a:ext cx="3593592" cy="1600200"/>
          </a:xfrm>
          <a:prstGeom prst="roundRect">
            <a:avLst>
              <a:gd name="adj" fmla="val 4571"/>
            </a:avLst>
          </a:prstGeom>
          <a:solidFill>
            <a:srgbClr val="FFFFFF"/>
          </a:solidFill>
          <a:ln w="12700">
            <a:solidFill>
              <a:srgbClr val="DCEFEC"/>
            </a:solidFill>
            <a:prstDash val="solid"/>
          </a:ln>
          <a:effectLst>
            <a:outerShdw blurRad="63500" dist="25400" dir="5400000" algn="bl" rotWithShape="0">
              <a:srgbClr val="808080">
                <a:alpha val="20000"/>
              </a:srgbClr>
            </a:outerShdw>
          </a:effectLst>
        </p:spPr>
      </p:sp>
      <p:sp>
        <p:nvSpPr>
          <p:cNvPr id="13" name="Shape 11"/>
          <p:cNvSpPr/>
          <p:nvPr/>
        </p:nvSpPr>
        <p:spPr>
          <a:xfrm>
            <a:off x="8330184" y="1874520"/>
            <a:ext cx="502920" cy="502920"/>
          </a:xfrm>
          <a:prstGeom prst="ellipse">
            <a:avLst/>
          </a:prstGeom>
          <a:solidFill>
            <a:srgbClr val="02C39A"/>
          </a:solidFill>
          <a:ln/>
        </p:spPr>
      </p:sp>
      <p:sp>
        <p:nvSpPr>
          <p:cNvPr id="14" name="Text 12"/>
          <p:cNvSpPr/>
          <p:nvPr/>
        </p:nvSpPr>
        <p:spPr>
          <a:xfrm>
            <a:off x="8330184" y="187452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8330184" y="2514600"/>
            <a:ext cx="3136392" cy="640080"/>
          </a:xfrm>
          <a:prstGeom prst="rect">
            <a:avLst/>
          </a:prstGeom>
          <a:noFill/>
          <a:ln/>
        </p:spPr>
        <p:txBody>
          <a:bodyPr wrap="square" rtlCol="0" anchor="ctr"/>
          <a:lstStyle/>
          <a:p>
            <a:pPr marL="0" indent="0">
              <a:lnSpc>
                <a:spcPct val="115000"/>
              </a:lnSpc>
              <a:buNone/>
            </a:pPr>
            <a:r>
              <a:rPr lang="en-US" sz="1300" b="1" dirty="0">
                <a:solidFill>
                  <a:srgbClr val="1B2E30"/>
                </a:solidFill>
                <a:latin typeface="Calibri" pitchFamily="34" charset="0"/>
                <a:ea typeface="Calibri" pitchFamily="34" charset="-122"/>
                <a:cs typeface="Calibri" pitchFamily="34" charset="-120"/>
              </a:rPr>
              <a:t>Make my work and skills visible</a:t>
            </a:r>
            <a:endParaRPr lang="en-US" sz="1300" dirty="0"/>
          </a:p>
        </p:txBody>
      </p:sp>
      <p:sp>
        <p:nvSpPr>
          <p:cNvPr id="16" name="Shape 14"/>
          <p:cNvSpPr/>
          <p:nvPr/>
        </p:nvSpPr>
        <p:spPr>
          <a:xfrm>
            <a:off x="548640" y="3429000"/>
            <a:ext cx="3593592" cy="1600200"/>
          </a:xfrm>
          <a:prstGeom prst="roundRect">
            <a:avLst>
              <a:gd name="adj" fmla="val 4571"/>
            </a:avLst>
          </a:prstGeom>
          <a:solidFill>
            <a:srgbClr val="FFFFFF"/>
          </a:solidFill>
          <a:ln w="12700">
            <a:solidFill>
              <a:srgbClr val="DCEFEC"/>
            </a:solidFill>
            <a:prstDash val="solid"/>
          </a:ln>
          <a:effectLst>
            <a:outerShdw blurRad="63500" dist="25400" dir="5400000" algn="bl" rotWithShape="0">
              <a:srgbClr val="808080">
                <a:alpha val="20000"/>
              </a:srgbClr>
            </a:outerShdw>
          </a:effectLst>
        </p:spPr>
      </p:sp>
      <p:sp>
        <p:nvSpPr>
          <p:cNvPr id="17" name="Shape 15"/>
          <p:cNvSpPr/>
          <p:nvPr/>
        </p:nvSpPr>
        <p:spPr>
          <a:xfrm>
            <a:off x="777240" y="3657600"/>
            <a:ext cx="502920" cy="502920"/>
          </a:xfrm>
          <a:prstGeom prst="ellipse">
            <a:avLst/>
          </a:prstGeom>
          <a:solidFill>
            <a:srgbClr val="02C39A"/>
          </a:solidFill>
          <a:ln/>
        </p:spPr>
      </p:sp>
      <p:sp>
        <p:nvSpPr>
          <p:cNvPr id="18" name="Text 16"/>
          <p:cNvSpPr/>
          <p:nvPr/>
        </p:nvSpPr>
        <p:spPr>
          <a:xfrm>
            <a:off x="777240" y="365760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777240" y="4297680"/>
            <a:ext cx="3136392" cy="640080"/>
          </a:xfrm>
          <a:prstGeom prst="rect">
            <a:avLst/>
          </a:prstGeom>
          <a:noFill/>
          <a:ln/>
        </p:spPr>
        <p:txBody>
          <a:bodyPr wrap="square" rtlCol="0" anchor="ctr"/>
          <a:lstStyle/>
          <a:p>
            <a:pPr marL="0" indent="0">
              <a:lnSpc>
                <a:spcPct val="115000"/>
              </a:lnSpc>
              <a:buNone/>
            </a:pPr>
            <a:r>
              <a:rPr lang="en-US" sz="1300" b="1" dirty="0">
                <a:solidFill>
                  <a:srgbClr val="1B2E30"/>
                </a:solidFill>
                <a:latin typeface="Calibri" pitchFamily="34" charset="0"/>
                <a:ea typeface="Calibri" pitchFamily="34" charset="-122"/>
                <a:cs typeface="Calibri" pitchFamily="34" charset="-120"/>
              </a:rPr>
              <a:t>Invest in myself and in others</a:t>
            </a:r>
            <a:endParaRPr lang="en-US" sz="1300" dirty="0"/>
          </a:p>
        </p:txBody>
      </p:sp>
      <p:sp>
        <p:nvSpPr>
          <p:cNvPr id="20" name="Shape 18"/>
          <p:cNvSpPr/>
          <p:nvPr/>
        </p:nvSpPr>
        <p:spPr>
          <a:xfrm>
            <a:off x="4325112" y="3429000"/>
            <a:ext cx="3593592" cy="1600200"/>
          </a:xfrm>
          <a:prstGeom prst="roundRect">
            <a:avLst>
              <a:gd name="adj" fmla="val 4571"/>
            </a:avLst>
          </a:prstGeom>
          <a:solidFill>
            <a:srgbClr val="FFFFFF"/>
          </a:solidFill>
          <a:ln w="12700">
            <a:solidFill>
              <a:srgbClr val="DCEFEC"/>
            </a:solidFill>
            <a:prstDash val="solid"/>
          </a:ln>
          <a:effectLst>
            <a:outerShdw blurRad="63500" dist="25400" dir="5400000" algn="bl" rotWithShape="0">
              <a:srgbClr val="808080">
                <a:alpha val="20000"/>
              </a:srgbClr>
            </a:outerShdw>
          </a:effectLst>
        </p:spPr>
      </p:sp>
      <p:sp>
        <p:nvSpPr>
          <p:cNvPr id="21" name="Shape 19"/>
          <p:cNvSpPr/>
          <p:nvPr/>
        </p:nvSpPr>
        <p:spPr>
          <a:xfrm>
            <a:off x="4553712" y="3657600"/>
            <a:ext cx="502920" cy="502920"/>
          </a:xfrm>
          <a:prstGeom prst="ellipse">
            <a:avLst/>
          </a:prstGeom>
          <a:solidFill>
            <a:srgbClr val="02C39A"/>
          </a:solidFill>
          <a:ln/>
        </p:spPr>
      </p:sp>
      <p:sp>
        <p:nvSpPr>
          <p:cNvPr id="22" name="Text 20"/>
          <p:cNvSpPr/>
          <p:nvPr/>
        </p:nvSpPr>
        <p:spPr>
          <a:xfrm>
            <a:off x="4553712" y="365760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4553712" y="4297680"/>
            <a:ext cx="3136392" cy="640080"/>
          </a:xfrm>
          <a:prstGeom prst="rect">
            <a:avLst/>
          </a:prstGeom>
          <a:noFill/>
          <a:ln/>
        </p:spPr>
        <p:txBody>
          <a:bodyPr wrap="square" rtlCol="0" anchor="ctr"/>
          <a:lstStyle/>
          <a:p>
            <a:pPr marL="0" indent="0">
              <a:lnSpc>
                <a:spcPct val="115000"/>
              </a:lnSpc>
              <a:buNone/>
            </a:pPr>
            <a:r>
              <a:rPr lang="en-US" sz="1300" b="1" dirty="0">
                <a:solidFill>
                  <a:srgbClr val="1B2E30"/>
                </a:solidFill>
                <a:latin typeface="Calibri" pitchFamily="34" charset="0"/>
                <a:ea typeface="Calibri" pitchFamily="34" charset="-122"/>
                <a:cs typeface="Calibri" pitchFamily="34" charset="-120"/>
              </a:rPr>
              <a:t>Keep giving value consistently</a:t>
            </a:r>
            <a:endParaRPr lang="en-US" sz="1300" dirty="0"/>
          </a:p>
        </p:txBody>
      </p:sp>
      <p:sp>
        <p:nvSpPr>
          <p:cNvPr id="24" name="Shape 22"/>
          <p:cNvSpPr/>
          <p:nvPr/>
        </p:nvSpPr>
        <p:spPr>
          <a:xfrm>
            <a:off x="8101584" y="3429000"/>
            <a:ext cx="3593592" cy="1600200"/>
          </a:xfrm>
          <a:prstGeom prst="roundRect">
            <a:avLst>
              <a:gd name="adj" fmla="val 4571"/>
            </a:avLst>
          </a:prstGeom>
          <a:solidFill>
            <a:srgbClr val="FFFFFF"/>
          </a:solidFill>
          <a:ln w="12700">
            <a:solidFill>
              <a:srgbClr val="DCEFEC"/>
            </a:solidFill>
            <a:prstDash val="solid"/>
          </a:ln>
          <a:effectLst>
            <a:outerShdw blurRad="63500" dist="25400" dir="5400000" algn="bl" rotWithShape="0">
              <a:srgbClr val="808080">
                <a:alpha val="20000"/>
              </a:srgbClr>
            </a:outerShdw>
          </a:effectLst>
        </p:spPr>
      </p:sp>
      <p:sp>
        <p:nvSpPr>
          <p:cNvPr id="25" name="Shape 23"/>
          <p:cNvSpPr/>
          <p:nvPr/>
        </p:nvSpPr>
        <p:spPr>
          <a:xfrm>
            <a:off x="8330184" y="3657600"/>
            <a:ext cx="502920" cy="502920"/>
          </a:xfrm>
          <a:prstGeom prst="ellipse">
            <a:avLst/>
          </a:prstGeom>
          <a:solidFill>
            <a:srgbClr val="02C39A"/>
          </a:solidFill>
          <a:ln/>
        </p:spPr>
      </p:sp>
      <p:sp>
        <p:nvSpPr>
          <p:cNvPr id="26" name="Text 24"/>
          <p:cNvSpPr/>
          <p:nvPr/>
        </p:nvSpPr>
        <p:spPr>
          <a:xfrm>
            <a:off x="8330184" y="365760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7" name="Text 25"/>
          <p:cNvSpPr/>
          <p:nvPr/>
        </p:nvSpPr>
        <p:spPr>
          <a:xfrm>
            <a:off x="8330184" y="4297680"/>
            <a:ext cx="3136392" cy="640080"/>
          </a:xfrm>
          <a:prstGeom prst="rect">
            <a:avLst/>
          </a:prstGeom>
          <a:noFill/>
          <a:ln/>
        </p:spPr>
        <p:txBody>
          <a:bodyPr wrap="square" rtlCol="0" anchor="ctr"/>
          <a:lstStyle/>
          <a:p>
            <a:pPr marL="0" indent="0">
              <a:lnSpc>
                <a:spcPct val="115000"/>
              </a:lnSpc>
              <a:buNone/>
            </a:pPr>
            <a:r>
              <a:rPr lang="en-US" sz="1300" b="1" dirty="0">
                <a:solidFill>
                  <a:srgbClr val="1B2E30"/>
                </a:solidFill>
                <a:latin typeface="Calibri" pitchFamily="34" charset="0"/>
                <a:ea typeface="Calibri" pitchFamily="34" charset="-122"/>
                <a:cs typeface="Calibri" pitchFamily="34" charset="-120"/>
              </a:rPr>
              <a:t>Build a name and reputation people can trust</a:t>
            </a:r>
            <a:endParaRPr lang="en-US" sz="1300" dirty="0"/>
          </a:p>
        </p:txBody>
      </p:sp>
      <p:sp>
        <p:nvSpPr>
          <p:cNvPr id="28" name="Text 26"/>
          <p:cNvSpPr/>
          <p:nvPr/>
        </p:nvSpPr>
        <p:spPr>
          <a:xfrm>
            <a:off x="11521440" y="6446520"/>
            <a:ext cx="457200" cy="320040"/>
          </a:xfrm>
          <a:prstGeom prst="rect">
            <a:avLst/>
          </a:prstGeom>
          <a:noFill/>
          <a:ln/>
        </p:spPr>
        <p:txBody>
          <a:bodyPr wrap="square" rtlCol="0" anchor="ctr"/>
          <a:lstStyle/>
          <a:p>
            <a:pPr marL="0" indent="0" algn="r">
              <a:buNone/>
            </a:pPr>
            <a:r>
              <a:rPr lang="en-US" sz="1000" dirty="0">
                <a:solidFill>
                  <a:srgbClr val="5C6B6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E30"/>
        </a:solidFill>
        <a:effectLst/>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028090">
              <a:alpha val="45000"/>
            </a:srgbClr>
          </a:solidFill>
          <a:ln/>
        </p:spPr>
      </p:sp>
      <p:sp>
        <p:nvSpPr>
          <p:cNvPr id="3" name="Shape 1"/>
          <p:cNvSpPr/>
          <p:nvPr/>
        </p:nvSpPr>
        <p:spPr>
          <a:xfrm>
            <a:off x="9144000" y="3657600"/>
            <a:ext cx="4572000" cy="4572000"/>
          </a:xfrm>
          <a:prstGeom prst="ellipse">
            <a:avLst/>
          </a:prstGeom>
          <a:solidFill>
            <a:srgbClr val="00A896">
              <a:alpha val="45000"/>
            </a:srgbClr>
          </a:solidFill>
          <a:ln/>
        </p:spPr>
      </p:sp>
      <p:sp>
        <p:nvSpPr>
          <p:cNvPr id="4" name="Text 2"/>
          <p:cNvSpPr/>
          <p:nvPr/>
        </p:nvSpPr>
        <p:spPr>
          <a:xfrm>
            <a:off x="914400" y="822960"/>
            <a:ext cx="1828800" cy="1371600"/>
          </a:xfrm>
          <a:prstGeom prst="rect">
            <a:avLst/>
          </a:prstGeom>
          <a:noFill/>
          <a:ln/>
        </p:spPr>
        <p:txBody>
          <a:bodyPr wrap="square" rtlCol="0" anchor="ctr"/>
          <a:lstStyle/>
          <a:p>
            <a:pPr marL="0" indent="0">
              <a:buNone/>
            </a:pPr>
            <a:r>
              <a:rPr lang="en-US" sz="9000" b="1" dirty="0">
                <a:solidFill>
                  <a:srgbClr val="02C39A"/>
                </a:solidFill>
                <a:latin typeface="Cambria" pitchFamily="34" charset="0"/>
                <a:ea typeface="Cambria" pitchFamily="34" charset="-122"/>
                <a:cs typeface="Cambria" pitchFamily="34" charset="-120"/>
              </a:rPr>
              <a:t>"</a:t>
            </a:r>
            <a:endParaRPr lang="en-US" sz="9000" dirty="0"/>
          </a:p>
        </p:txBody>
      </p:sp>
      <p:sp>
        <p:nvSpPr>
          <p:cNvPr id="5" name="Text 3"/>
          <p:cNvSpPr/>
          <p:nvPr/>
        </p:nvSpPr>
        <p:spPr>
          <a:xfrm>
            <a:off x="1188720" y="2011680"/>
            <a:ext cx="9784080" cy="1554480"/>
          </a:xfrm>
          <a:prstGeom prst="rect">
            <a:avLst/>
          </a:prstGeom>
          <a:noFill/>
          <a:ln/>
        </p:spPr>
        <p:txBody>
          <a:bodyPr wrap="square" rtlCol="0" anchor="ctr"/>
          <a:lstStyle/>
          <a:p>
            <a:pPr marL="0" indent="0">
              <a:lnSpc>
                <a:spcPct val="130000"/>
              </a:lnSpc>
              <a:buNone/>
            </a:pPr>
            <a:r>
              <a:rPr lang="en-US" sz="3200" b="1" i="1" dirty="0">
                <a:solidFill>
                  <a:srgbClr val="FFFFFF"/>
                </a:solidFill>
                <a:latin typeface="Cambria" pitchFamily="34" charset="0"/>
                <a:ea typeface="Cambria" pitchFamily="34" charset="-122"/>
                <a:cs typeface="Cambria" pitchFamily="34" charset="-120"/>
              </a:rPr>
              <a:t>When preparation meets luck, it becomes opportunity.</a:t>
            </a:r>
            <a:endParaRPr lang="en-US" sz="3200" dirty="0"/>
          </a:p>
        </p:txBody>
      </p:sp>
      <p:sp>
        <p:nvSpPr>
          <p:cNvPr id="6" name="Text 4"/>
          <p:cNvSpPr/>
          <p:nvPr/>
        </p:nvSpPr>
        <p:spPr>
          <a:xfrm>
            <a:off x="1188720" y="3840480"/>
            <a:ext cx="9601200" cy="1280160"/>
          </a:xfrm>
          <a:prstGeom prst="rect">
            <a:avLst/>
          </a:prstGeom>
          <a:noFill/>
          <a:ln/>
        </p:spPr>
        <p:txBody>
          <a:bodyPr wrap="square" rtlCol="0" anchor="ctr"/>
          <a:lstStyle/>
          <a:p>
            <a:pPr marL="285750" indent="-285750">
              <a:lnSpc>
                <a:spcPct val="130000"/>
              </a:lnSpc>
              <a:buFontTx/>
              <a:buChar char="-"/>
            </a:pPr>
            <a:r>
              <a:rPr lang="yo-NG" sz="1600" dirty="0">
                <a:solidFill>
                  <a:srgbClr val="B9D8D5"/>
                </a:solidFill>
                <a:latin typeface="Calibri" pitchFamily="34" charset="0"/>
                <a:ea typeface="Calibri" pitchFamily="34" charset="-122"/>
                <a:cs typeface="Calibri" pitchFamily="34" charset="-120"/>
              </a:rPr>
              <a:t>When preparation meet luck, it becomes opportunity i.e opportunity favors </a:t>
            </a:r>
            <a:r>
              <a:rPr lang="en-US" sz="1600" dirty="0">
                <a:solidFill>
                  <a:srgbClr val="B9D8D5"/>
                </a:solidFill>
                <a:latin typeface="Calibri" pitchFamily="34" charset="0"/>
                <a:ea typeface="Calibri" pitchFamily="34" charset="-122"/>
                <a:cs typeface="Calibri" pitchFamily="34" charset="-120"/>
              </a:rPr>
              <a:t>those who are prepared. </a:t>
            </a:r>
            <a:r>
              <a:rPr lang="yo-NG" sz="1600" dirty="0">
                <a:solidFill>
                  <a:srgbClr val="B9D8D5"/>
                </a:solidFill>
                <a:latin typeface="Calibri" pitchFamily="34" charset="0"/>
                <a:ea typeface="Calibri" pitchFamily="34" charset="-122"/>
                <a:cs typeface="Calibri" pitchFamily="34" charset="-120"/>
              </a:rPr>
              <a:t>So the question is “Am I prepared to meet a luck” Honest I can’t say.</a:t>
            </a:r>
          </a:p>
          <a:p>
            <a:pPr marL="285750" indent="-285750">
              <a:lnSpc>
                <a:spcPct val="130000"/>
              </a:lnSpc>
              <a:buFontTx/>
              <a:buChar char="-"/>
            </a:pPr>
            <a:endParaRPr lang="yo-NG" sz="1600" dirty="0">
              <a:solidFill>
                <a:srgbClr val="B9D8D5"/>
              </a:solidFill>
              <a:latin typeface="Calibri" pitchFamily="34" charset="0"/>
              <a:ea typeface="Calibri" pitchFamily="34" charset="-122"/>
              <a:cs typeface="Calibri" pitchFamily="34" charset="-120"/>
            </a:endParaRPr>
          </a:p>
          <a:p>
            <a:pPr>
              <a:lnSpc>
                <a:spcPct val="130000"/>
              </a:lnSpc>
            </a:pPr>
            <a:r>
              <a:rPr lang="yo-NG" sz="1600" dirty="0">
                <a:solidFill>
                  <a:srgbClr val="B9D8D5"/>
                </a:solidFill>
                <a:latin typeface="Calibri" pitchFamily="34" charset="0"/>
                <a:ea typeface="Calibri" pitchFamily="34" charset="-122"/>
                <a:cs typeface="Calibri" pitchFamily="34" charset="-120"/>
              </a:rPr>
              <a:t>No matter what </a:t>
            </a:r>
          </a:p>
          <a:p>
            <a:pPr marL="0" indent="0">
              <a:lnSpc>
                <a:spcPct val="130000"/>
              </a:lnSpc>
              <a:buNone/>
            </a:pPr>
            <a:r>
              <a:rPr lang="yo-NG" sz="1600" dirty="0">
                <a:solidFill>
                  <a:srgbClr val="B9D8D5"/>
                </a:solidFill>
                <a:latin typeface="Calibri" pitchFamily="34" charset="0"/>
                <a:ea typeface="Calibri" pitchFamily="34" charset="-122"/>
                <a:cs typeface="Calibri" pitchFamily="34" charset="-120"/>
              </a:rPr>
              <a:t>- </a:t>
            </a:r>
            <a:r>
              <a:rPr lang="en-US" sz="1600" dirty="0">
                <a:solidFill>
                  <a:srgbClr val="B9D8D5"/>
                </a:solidFill>
                <a:latin typeface="Calibri" pitchFamily="34" charset="0"/>
                <a:ea typeface="Calibri" pitchFamily="34" charset="-122"/>
                <a:cs typeface="Calibri" pitchFamily="34" charset="-120"/>
              </a:rPr>
              <a:t>There is still so much value to create, so much impact to make, and so much of the world that still needs to be built.</a:t>
            </a:r>
            <a:r>
              <a:rPr lang="yo-NG" sz="1600" dirty="0">
                <a:solidFill>
                  <a:srgbClr val="B9D8D5"/>
                </a:solidFill>
                <a:latin typeface="Calibri" pitchFamily="34" charset="0"/>
                <a:ea typeface="Calibri" pitchFamily="34" charset="-122"/>
                <a:cs typeface="Calibri" pitchFamily="34" charset="-120"/>
              </a:rPr>
              <a:t> </a:t>
            </a:r>
            <a:endParaRPr lang="en-US" sz="1600" dirty="0"/>
          </a:p>
        </p:txBody>
      </p:sp>
      <p:sp>
        <p:nvSpPr>
          <p:cNvPr id="7" name="Text 5"/>
          <p:cNvSpPr/>
          <p:nvPr/>
        </p:nvSpPr>
        <p:spPr>
          <a:xfrm>
            <a:off x="11521440" y="6446520"/>
            <a:ext cx="457200" cy="320040"/>
          </a:xfrm>
          <a:prstGeom prst="rect">
            <a:avLst/>
          </a:prstGeom>
          <a:noFill/>
          <a:ln/>
        </p:spPr>
        <p:txBody>
          <a:bodyPr wrap="square" rtlCol="0" anchor="ctr"/>
          <a:lstStyle/>
          <a:p>
            <a:pPr marL="0" indent="0" algn="r">
              <a:buNone/>
            </a:pPr>
            <a:r>
              <a:rPr lang="en-US" sz="1000" dirty="0">
                <a:solidFill>
                  <a:srgbClr val="CFE8E5"/>
                </a:solidFill>
                <a:latin typeface="Calibri" pitchFamily="34" charset="0"/>
                <a:ea typeface="Calibri" pitchFamily="34" charset="-122"/>
                <a:cs typeface="Calibri" pitchFamily="34" charset="-120"/>
              </a:rPr>
              <a:t>9</a:t>
            </a:r>
            <a:endParaRPr lang="en-US" sz="1000" dirty="0"/>
          </a:p>
        </p:txBody>
      </p:sp>
      <p:sp>
        <p:nvSpPr>
          <p:cNvPr id="9" name="Text 0">
            <a:extLst>
              <a:ext uri="{FF2B5EF4-FFF2-40B4-BE49-F238E27FC236}">
                <a16:creationId xmlns:a16="http://schemas.microsoft.com/office/drawing/2014/main" id="{965788B7-E497-7D0A-DA11-5E475E10695C}"/>
              </a:ext>
            </a:extLst>
          </p:cNvPr>
          <p:cNvSpPr/>
          <p:nvPr/>
        </p:nvSpPr>
        <p:spPr>
          <a:xfrm>
            <a:off x="2047521" y="889100"/>
            <a:ext cx="8096958" cy="528220"/>
          </a:xfrm>
          <a:prstGeom prst="rect">
            <a:avLst/>
          </a:prstGeom>
          <a:noFill/>
          <a:ln/>
        </p:spPr>
        <p:txBody>
          <a:bodyPr wrap="square" rtlCol="0" anchor="ctr"/>
          <a:lstStyle/>
          <a:p>
            <a:pPr marL="0" indent="0">
              <a:buNone/>
            </a:pPr>
            <a:r>
              <a:rPr lang="yo-NG" sz="2600" b="1" dirty="0">
                <a:solidFill>
                  <a:schemeClr val="bg2"/>
                </a:solidFill>
                <a:latin typeface="Cambria" pitchFamily="34" charset="0"/>
                <a:ea typeface="Cambria" pitchFamily="34" charset="-122"/>
              </a:rPr>
              <a:t>Another</a:t>
            </a:r>
            <a:r>
              <a:rPr lang="yo-NG" sz="2600" b="1" dirty="0">
                <a:solidFill>
                  <a:srgbClr val="1B2E30"/>
                </a:solidFill>
                <a:latin typeface="Cambria" pitchFamily="34" charset="0"/>
                <a:ea typeface="Cambria" pitchFamily="34" charset="-122"/>
              </a:rPr>
              <a:t> </a:t>
            </a:r>
            <a:r>
              <a:rPr lang="yo-NG" sz="2600" b="1" dirty="0">
                <a:solidFill>
                  <a:schemeClr val="bg2"/>
                </a:solidFill>
                <a:latin typeface="Cambria" pitchFamily="34" charset="0"/>
                <a:ea typeface="Cambria" pitchFamily="34" charset="-122"/>
              </a:rPr>
              <a:t>Key</a:t>
            </a:r>
            <a:r>
              <a:rPr lang="yo-NG" sz="2600" b="1" dirty="0">
                <a:solidFill>
                  <a:srgbClr val="1B2E30"/>
                </a:solidFill>
                <a:latin typeface="Cambria" pitchFamily="34" charset="0"/>
                <a:ea typeface="Cambria" pitchFamily="34" charset="-122"/>
              </a:rPr>
              <a:t> </a:t>
            </a:r>
            <a:r>
              <a:rPr lang="yo-NG" sz="2600" b="1" dirty="0">
                <a:solidFill>
                  <a:schemeClr val="bg2"/>
                </a:solidFill>
                <a:latin typeface="Cambria" pitchFamily="34" charset="0"/>
                <a:ea typeface="Cambria" pitchFamily="34" charset="-122"/>
              </a:rPr>
              <a:t>Takeaways</a:t>
            </a:r>
            <a:endParaRPr lang="en-US" sz="2600" dirty="0">
              <a:solidFill>
                <a:schemeClr val="bg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554480"/>
          </a:xfrm>
          <a:prstGeom prst="rect">
            <a:avLst/>
          </a:prstGeom>
          <a:solidFill>
            <a:srgbClr val="028090"/>
          </a:solidFill>
          <a:ln/>
        </p:spPr>
      </p:sp>
      <p:sp>
        <p:nvSpPr>
          <p:cNvPr id="3" name="Text 1"/>
          <p:cNvSpPr/>
          <p:nvPr/>
        </p:nvSpPr>
        <p:spPr>
          <a:xfrm>
            <a:off x="548640" y="411480"/>
            <a:ext cx="9144000" cy="7315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Appreciation to IOTB Tech</a:t>
            </a:r>
            <a:endParaRPr lang="en-US" sz="3000" dirty="0"/>
          </a:p>
        </p:txBody>
      </p:sp>
      <p:sp>
        <p:nvSpPr>
          <p:cNvPr id="4" name="Text 2"/>
          <p:cNvSpPr/>
          <p:nvPr/>
        </p:nvSpPr>
        <p:spPr>
          <a:xfrm>
            <a:off x="548640" y="1874520"/>
            <a:ext cx="11064240" cy="1737360"/>
          </a:xfrm>
          <a:prstGeom prst="rect">
            <a:avLst/>
          </a:prstGeom>
          <a:noFill/>
          <a:ln/>
        </p:spPr>
        <p:txBody>
          <a:bodyPr wrap="square" rtlCol="0" anchor="ctr"/>
          <a:lstStyle/>
          <a:p>
            <a:pPr marL="0" indent="0">
              <a:lnSpc>
                <a:spcPct val="130000"/>
              </a:lnSpc>
              <a:buNone/>
            </a:pPr>
            <a:r>
              <a:rPr lang="en-US" sz="1500" dirty="0">
                <a:solidFill>
                  <a:srgbClr val="1B2E30"/>
                </a:solidFill>
                <a:latin typeface="Calibri" pitchFamily="34" charset="0"/>
                <a:ea typeface="Calibri" pitchFamily="34" charset="-122"/>
                <a:cs typeface="Calibri" pitchFamily="34" charset="-120"/>
              </a:rPr>
              <a:t>I have explored different areas in the tech space, but my experience at IOTB Tech has been incomparable. The knowledge, mentorship, community, and opportunities provided here are truly invaluable</a:t>
            </a:r>
            <a:r>
              <a:rPr lang="yo-NG" sz="1500" dirty="0">
                <a:solidFill>
                  <a:srgbClr val="1B2E30"/>
                </a:solidFill>
                <a:latin typeface="Calibri" pitchFamily="34" charset="0"/>
                <a:ea typeface="Calibri" pitchFamily="34" charset="-122"/>
                <a:cs typeface="Calibri" pitchFamily="34" charset="-120"/>
              </a:rPr>
              <a:t>, </a:t>
            </a:r>
            <a:r>
              <a:rPr lang="en-US" sz="1500" dirty="0">
                <a:solidFill>
                  <a:srgbClr val="1B2E30"/>
                </a:solidFill>
                <a:latin typeface="Calibri" pitchFamily="34" charset="0"/>
                <a:ea typeface="Calibri" pitchFamily="34" charset="-122"/>
                <a:cs typeface="Calibri" pitchFamily="34" charset="-120"/>
              </a:rPr>
              <a:t>money can't buy them. IOTB</a:t>
            </a:r>
            <a:r>
              <a:rPr lang="yo-NG" sz="1500" dirty="0">
                <a:solidFill>
                  <a:srgbClr val="1B2E30"/>
                </a:solidFill>
                <a:latin typeface="Calibri" pitchFamily="34" charset="0"/>
                <a:ea typeface="Calibri" pitchFamily="34" charset="-122"/>
                <a:cs typeface="Calibri" pitchFamily="34" charset="-120"/>
              </a:rPr>
              <a:t>Te</a:t>
            </a:r>
            <a:r>
              <a:rPr lang="en-US" sz="1500" dirty="0" err="1">
                <a:solidFill>
                  <a:srgbClr val="1B2E30"/>
                </a:solidFill>
                <a:latin typeface="Calibri" pitchFamily="34" charset="0"/>
                <a:ea typeface="Calibri" pitchFamily="34" charset="-122"/>
                <a:cs typeface="Calibri" pitchFamily="34" charset="-120"/>
              </a:rPr>
              <a:t>ch</a:t>
            </a:r>
            <a:r>
              <a:rPr lang="en-US" sz="1500" dirty="0">
                <a:solidFill>
                  <a:srgbClr val="1B2E30"/>
                </a:solidFill>
                <a:latin typeface="Calibri" pitchFamily="34" charset="0"/>
                <a:ea typeface="Calibri" pitchFamily="34" charset="-122"/>
                <a:cs typeface="Calibri" pitchFamily="34" charset="-120"/>
              </a:rPr>
              <a:t> continuously empowers people with world-class professional skills, creates opportunities, and genuinely invests in the success of others.</a:t>
            </a:r>
            <a:endParaRPr lang="yo-NG" sz="1500" dirty="0">
              <a:solidFill>
                <a:srgbClr val="1B2E30"/>
              </a:solidFill>
              <a:latin typeface="Calibri" pitchFamily="34" charset="0"/>
              <a:ea typeface="Calibri" pitchFamily="34" charset="-122"/>
              <a:cs typeface="Calibri" pitchFamily="34" charset="-120"/>
            </a:endParaRPr>
          </a:p>
          <a:p>
            <a:pPr marL="0" indent="0">
              <a:lnSpc>
                <a:spcPct val="130000"/>
              </a:lnSpc>
              <a:buNone/>
            </a:pPr>
            <a:r>
              <a:rPr lang="yo-NG" sz="1500" dirty="0">
                <a:solidFill>
                  <a:srgbClr val="1B2E30"/>
                </a:solidFill>
                <a:latin typeface="Calibri" pitchFamily="34" charset="0"/>
              </a:rPr>
              <a:t>The statement, “Help your friend make money so you won’t have to worry about money in life,” truly reflects what IOTBTech stands for. The organization continuously empowers people with world-class professional skills, creates opportunities, and genuinely invests in the success of others.</a:t>
            </a:r>
            <a:endParaRPr lang="en-US" sz="1500" dirty="0"/>
          </a:p>
        </p:txBody>
      </p:sp>
      <p:sp>
        <p:nvSpPr>
          <p:cNvPr id="5" name="Shape 3"/>
          <p:cNvSpPr/>
          <p:nvPr/>
        </p:nvSpPr>
        <p:spPr>
          <a:xfrm>
            <a:off x="548640" y="3794760"/>
            <a:ext cx="11064240" cy="1965960"/>
          </a:xfrm>
          <a:prstGeom prst="roundRect">
            <a:avLst>
              <a:gd name="adj" fmla="val 3721"/>
            </a:avLst>
          </a:prstGeom>
          <a:solidFill>
            <a:srgbClr val="F4FAF9"/>
          </a:solidFill>
          <a:ln/>
        </p:spPr>
      </p:sp>
      <p:sp>
        <p:nvSpPr>
          <p:cNvPr id="6" name="Text 4"/>
          <p:cNvSpPr/>
          <p:nvPr/>
        </p:nvSpPr>
        <p:spPr>
          <a:xfrm>
            <a:off x="868680" y="3977640"/>
            <a:ext cx="10424160" cy="1097280"/>
          </a:xfrm>
          <a:prstGeom prst="rect">
            <a:avLst/>
          </a:prstGeom>
          <a:noFill/>
          <a:ln/>
        </p:spPr>
        <p:txBody>
          <a:bodyPr wrap="square" rtlCol="0" anchor="ctr"/>
          <a:lstStyle/>
          <a:p>
            <a:pPr marL="0" indent="0">
              <a:lnSpc>
                <a:spcPct val="130000"/>
              </a:lnSpc>
              <a:buNone/>
            </a:pPr>
            <a:r>
              <a:rPr lang="en-US" sz="1500" i="1" dirty="0">
                <a:solidFill>
                  <a:srgbClr val="028090"/>
                </a:solidFill>
                <a:latin typeface="Calibri" pitchFamily="34" charset="0"/>
                <a:ea typeface="Calibri" pitchFamily="34" charset="-122"/>
                <a:cs typeface="Calibri" pitchFamily="34" charset="-120"/>
              </a:rPr>
              <a:t>May Almighty Allah continue to reward the founders, the leadership, the mentors, and every contributor to IOTB Tech. May your efforts continue to transform lives and open doors for many more people.</a:t>
            </a:r>
            <a:endParaRPr lang="en-US" sz="1500" dirty="0"/>
          </a:p>
        </p:txBody>
      </p:sp>
      <p:sp>
        <p:nvSpPr>
          <p:cNvPr id="7" name="Text 5"/>
          <p:cNvSpPr/>
          <p:nvPr/>
        </p:nvSpPr>
        <p:spPr>
          <a:xfrm>
            <a:off x="868680" y="5120640"/>
            <a:ext cx="10424160" cy="457200"/>
          </a:xfrm>
          <a:prstGeom prst="rect">
            <a:avLst/>
          </a:prstGeom>
          <a:noFill/>
          <a:ln/>
        </p:spPr>
        <p:txBody>
          <a:bodyPr wrap="square" rtlCol="0" anchor="ctr"/>
          <a:lstStyle/>
          <a:p>
            <a:pPr marL="0" indent="0">
              <a:buNone/>
            </a:pPr>
            <a:r>
              <a:rPr lang="en-US" sz="1600" b="1" dirty="0">
                <a:solidFill>
                  <a:srgbClr val="1B2E30"/>
                </a:solidFill>
                <a:latin typeface="Cambria" pitchFamily="34" charset="0"/>
                <a:ea typeface="Cambria" pitchFamily="34" charset="-122"/>
                <a:cs typeface="Cambria" pitchFamily="34" charset="-120"/>
              </a:rPr>
              <a:t>Jazakumullahu khayran.</a:t>
            </a:r>
            <a:endParaRPr lang="en-US" sz="1600" dirty="0"/>
          </a:p>
        </p:txBody>
      </p:sp>
      <p:sp>
        <p:nvSpPr>
          <p:cNvPr id="8" name="Text 6"/>
          <p:cNvSpPr/>
          <p:nvPr/>
        </p:nvSpPr>
        <p:spPr>
          <a:xfrm>
            <a:off x="11521440" y="6446520"/>
            <a:ext cx="457200" cy="320040"/>
          </a:xfrm>
          <a:prstGeom prst="rect">
            <a:avLst/>
          </a:prstGeom>
          <a:noFill/>
          <a:ln/>
        </p:spPr>
        <p:txBody>
          <a:bodyPr wrap="square" rtlCol="0" anchor="ctr"/>
          <a:lstStyle/>
          <a:p>
            <a:pPr marL="0" indent="0" algn="r">
              <a:buNone/>
            </a:pPr>
            <a:r>
              <a:rPr lang="en-US" sz="1000" dirty="0">
                <a:solidFill>
                  <a:srgbClr val="5C6B6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Aishat Adeniyi</cp:lastModifiedBy>
  <cp:revision>6</cp:revision>
  <dcterms:created xsi:type="dcterms:W3CDTF">2026-07-20T20:31:34Z</dcterms:created>
  <dcterms:modified xsi:type="dcterms:W3CDTF">2026-07-21T19:57:27Z</dcterms:modified>
</cp:coreProperties>
</file>