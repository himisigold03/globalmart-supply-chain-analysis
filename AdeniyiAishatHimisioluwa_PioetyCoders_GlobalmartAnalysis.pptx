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3C262-8089-DA47-BC96-9DAEAFD1C356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1E88C-C792-4A48-945D-7BF590E4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78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8.jpe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02" y="0"/>
            <a:ext cx="12188952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// SUPPLY CHAIN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Insights for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Excellence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Superstore Dataset  ·  Power Query Cleaning  ·  Power BI Analysis  ·  Executive Summary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12700">
            <a:solidFill>
              <a:srgbClr val="24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781" y="624007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yo-NG" sz="14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Adeniyi Aishat Himisioluwa| Data Analytics Stack |Piety Coders 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082D4C-69A0-CE5C-238D-BC3FC05EB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36" y="450048"/>
            <a:ext cx="2095500" cy="921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customer complaints tied to delayed deliveries across multiple regions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overstocking and stockouts across product categories, pointing to a demand-forecasting gap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margins holding flat around 27.8% despite steady revenue — growth without efficiency gains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static reporting is limiting real-time, data-driven decision-making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2,090 records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80360" y="2240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532120" y="2240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83880" y="2240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03920" y="18288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0299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Summary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32 exact duplicate rows and 80 duplicate Order IDs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7+ inconsistent categorical fields (casing, spacing, abbreviations, spelling variants)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mixed date formats and physically invalid negative values (Quantity, Unit Cost, Days to Ship)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missing financial fields (Total Sales, Total Cost, Profit) from related columns rather than leaving blanks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2,090 raw records → 2,010 validated, analysis-ready records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 &amp;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56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ORDERS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856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856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43600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41080" y="169164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856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41080" y="24688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 Captured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Ship Dates, Delivery Status, Days to Ship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Country, Warehouse, Shipping Mode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Category, Product Name, Supplier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0" y="3657600"/>
            <a:ext cx="5577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Ordered, Unit Cost, Unit Price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Total Cost, Profit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Level, Damaged Goods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943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After Cleaning:  </a:t>
            </a:r>
            <a:r>
              <a:rPr lang="en-US" sz="12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· 0 duplicate Order IDs · all types validated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Performance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1234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34.4%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00200"/>
            <a:ext cx="54864" cy="1234440"/>
          </a:xfrm>
          <a:prstGeom prst="rect">
            <a:avLst/>
          </a:prstGeom>
          <a:solidFill>
            <a:srgbClr val="F0555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647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039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65.1%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450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1,309 orders delayed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600200"/>
            <a:ext cx="54864" cy="123444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7647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SHIP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039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 days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450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delivery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41080" y="1600200"/>
            <a:ext cx="2999232" cy="1234440"/>
          </a:xfrm>
          <a:prstGeom prst="roundRect">
            <a:avLst>
              <a:gd name="adj" fmla="val 5926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17556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0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URGENT ISSUE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51392" y="202996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orders arrive late — no shipping mode currently solves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by Supplier (%)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0" y="3063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by Shipping Mode (%)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28232" y="5605272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29400" y="577900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0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Globaltrade Ng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worst late rate </a:t>
            </a:r>
            <a:r>
              <a:rPr lang="yo-NG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7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r>
              <a:rPr lang="yo-NG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13 points above the best performer, </a:t>
            </a: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Primegoods Africa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yo-NG" sz="115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</a:t>
            </a:r>
            <a:r>
              <a:rPr lang="en-US" sz="115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r>
              <a:rPr lang="yo-NG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Even Express, the most reliable mode, is only on-time 37.1% of the time.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23E8AFF-0353-C9B3-8BDE-06A598BE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05" y="3457575"/>
            <a:ext cx="4909750" cy="34004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A513A40-7426-E04C-7407-8A2C9AEEE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90" y="3493008"/>
            <a:ext cx="4748022" cy="2039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PROFITABILITY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 Analysis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1234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$703.5M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2,010 orders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00200"/>
            <a:ext cx="54864" cy="12344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647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039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$195.5M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450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27.8% margin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600200"/>
            <a:ext cx="54864" cy="123444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7647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039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$349.9K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4505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41080" y="1600200"/>
            <a:ext cx="2999232" cy="1234440"/>
          </a:xfrm>
          <a:prstGeom prst="roundRect">
            <a:avLst>
              <a:gd name="adj" fmla="val 5926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1600200"/>
            <a:ext cx="54864" cy="1234440"/>
          </a:xfrm>
          <a:prstGeom prst="rect">
            <a:avLst/>
          </a:prstGeom>
          <a:solidFill>
            <a:srgbClr val="9B8CFB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76479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SUPPLIER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03911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Quickship Co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69680" y="24505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$18.7M profit contributed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Profit by Category ($M)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0" y="3063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 (%)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E14F79E-DB32-B43D-4215-99645A6F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64" y="3383280"/>
            <a:ext cx="5841996" cy="31729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EBCFFBF-F470-F98B-A239-59BF81107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74" y="3557319"/>
            <a:ext cx="5352281" cy="28617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Optimization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yo-NG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</a:t>
            </a:r>
            <a:r>
              <a:rPr lang="en-US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tock Level vs Total Quantity Ordered by Category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166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9B8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highest order volume (92,443 units) relative to its stock level — a tighter turnover risk than other categories.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80760" y="5029200"/>
            <a:ext cx="5559552" cy="1234440"/>
          </a:xfrm>
          <a:prstGeom prst="roundRect">
            <a:avLst>
              <a:gd name="adj" fmla="val 5926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5166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</a:t>
            </a: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also has the highest damaged goods count (2.68% rate) — flags a handling/packaging issue, not just a stocking one.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62D05F-4663-D094-A7EE-476525BA2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8482" y="1920241"/>
            <a:ext cx="10200077" cy="2862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Trends &amp;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Region ($M)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($M)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54406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5778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</a:t>
            </a:r>
            <a:r>
              <a:rPr lang="en-US" sz="12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revenue at $157.9M, followed by Central Africa ($144.9M); Southern Africa trails at $122.8M. Revenue is fairly evenly distributed across categories</a:t>
            </a:r>
            <a:r>
              <a:rPr lang="yo-NG" sz="12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E9C96F-6AC5-D675-97A0-5944F5863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9904" y="2285494"/>
            <a:ext cx="4593617" cy="26522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6C39A5-ED31-BAB7-2C86-FF8A3AFB2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423159"/>
            <a:ext cx="4624074" cy="25146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768096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F0555A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691640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Globaltrade Ng
</a:t>
            </a: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late rate is a clear outlier — worth a supplier performance review or renegotiation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0789920" cy="768096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60904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587752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Express Shipping
</a:t>
            </a: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not meaningfully more reliable than other modes, its added cost may not be justified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10652760" cy="694944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57016"/>
            <a:ext cx="457200" cy="457200"/>
          </a:xfrm>
          <a:prstGeom prst="ellipse">
            <a:avLst/>
          </a:prstGeom>
          <a:solidFill>
            <a:srgbClr val="9B8CFB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557016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QC for Health &amp; Beauty
</a:t>
            </a: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damaged-goods rate in the dataset signals a handling or packaging issue</a:t>
            </a:r>
            <a:r>
              <a:rPr lang="yo-NG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despite having the highest profit and revenue.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10789920" cy="768096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453128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4379976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Inventory
</a:t>
            </a: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stock levels with category-level demand rather than a flat average across categories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84648"/>
            <a:ext cx="10789920" cy="768096"/>
          </a:xfrm>
          <a:prstGeom prst="roundRect">
            <a:avLst>
              <a:gd name="adj" fmla="val 9524"/>
            </a:avLst>
          </a:prstGeom>
          <a:solidFill>
            <a:srgbClr val="121B2E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34924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5276088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Data Capture
</a:t>
            </a: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cleaning issues stemmed from inconsistent manual entry</a:t>
            </a:r>
            <a:r>
              <a:rPr lang="yo-NG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</a:t>
            </a: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</a:t>
            </a:r>
            <a:r>
              <a:rPr lang="yo-NG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</a:t>
            </a:r>
            <a:r>
              <a:rPr lang="en-US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r>
              <a:rPr lang="yo-NG" sz="11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having a standardized format for data collection or entry.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7223A"/>
          </a:solidFill>
          <a:ln w="12700">
            <a:solidFill>
              <a:srgbClr val="24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reliability, not profitability, is GlobalMart's most urgent issue.
</a:t>
            </a:r>
            <a:r>
              <a:rPr lang="en-US" sz="13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healthy and stable at 27.8%, but nearly 2 in 3 orders arrive late.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400"/>
              </a:spcAft>
              <a:buSzPct val="100000"/>
            </a:pP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this dashboard's refresh cycle so leadership can monitor delivery KPIs in real time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analysis to customer satisfaction data, if available, to link delivery delays to churn risk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inventory rebalancing in Health &amp; Beauty, the category with the widest demand-supply gap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831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Aishat Adeniyi</cp:lastModifiedBy>
  <cp:revision>5</cp:revision>
  <dcterms:created xsi:type="dcterms:W3CDTF">2026-07-20T23:23:54Z</dcterms:created>
  <dcterms:modified xsi:type="dcterms:W3CDTF">2026-07-21T22:43:19Z</dcterms:modified>
</cp:coreProperties>
</file>